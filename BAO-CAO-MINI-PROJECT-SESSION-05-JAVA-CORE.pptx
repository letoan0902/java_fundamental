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Inter" panose="020B0604020202020204" charset="0"/>
      <p:regular r:id="rId12"/>
    </p:embeddedFont>
  </p:embeddedFontLst>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Kiểu Trung bình 2 - Màu chủ đề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Kiểu Trung bình 2 - Màu chủ đề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792" y="2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9020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txBody>
          <a:bodyPr/>
          <a:lstStyle/>
          <a:p>
            <a:endParaRPr lang="vi-VN"/>
          </a:p>
        </p:txBody>
      </p:sp>
      <p:sp>
        <p:nvSpPr>
          <p:cNvPr id="3" name="Shape 1"/>
          <p:cNvSpPr/>
          <p:nvPr/>
        </p:nvSpPr>
        <p:spPr>
          <a:xfrm>
            <a:off x="0" y="0"/>
            <a:ext cx="14630400" cy="8229600"/>
          </a:xfrm>
          <a:prstGeom prst="rect">
            <a:avLst/>
          </a:prstGeom>
          <a:solidFill>
            <a:srgbClr val="FDFAF7"/>
          </a:solidFill>
          <a:ln/>
        </p:spPr>
        <p:txBody>
          <a:bodyPr/>
          <a:lstStyle/>
          <a:p>
            <a:endParaRPr lang="vi-V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91421"/>
            <a:ext cx="7556421" cy="1559243"/>
          </a:xfrm>
          <a:prstGeom prst="rect">
            <a:avLst/>
          </a:prstGeom>
          <a:noFill/>
          <a:ln/>
        </p:spPr>
        <p:txBody>
          <a:bodyPr wrap="square" lIns="0" tIns="0" rIns="0" bIns="0" rtlCol="0" anchor="t"/>
          <a:lstStyle/>
          <a:p>
            <a:pPr marL="0" indent="0" algn="l">
              <a:lnSpc>
                <a:spcPts val="6100"/>
              </a:lnSpc>
              <a:buNone/>
            </a:pPr>
            <a:r>
              <a:rPr lang="en-US" sz="4900" b="1" dirty="0">
                <a:solidFill>
                  <a:srgbClr val="F95F88"/>
                </a:solidFill>
                <a:latin typeface="Petrona Bold" pitchFamily="34" charset="0"/>
                <a:ea typeface="Petrona Bold" pitchFamily="34" charset="-122"/>
                <a:cs typeface="Petrona Bold" pitchFamily="34" charset="-120"/>
              </a:rPr>
              <a:t>BÁO CÁO MINI PROJECT SESSION </a:t>
            </a:r>
            <a:r>
              <a:rPr lang="en-US" sz="4900" b="1">
                <a:solidFill>
                  <a:srgbClr val="F95F88"/>
                </a:solidFill>
                <a:latin typeface="Petrona Bold" pitchFamily="34" charset="0"/>
                <a:ea typeface="Petrona Bold" pitchFamily="34" charset="-122"/>
                <a:cs typeface="Petrona Bold" pitchFamily="34" charset="-120"/>
              </a:rPr>
              <a:t>05 JAVA</a:t>
            </a:r>
            <a:endParaRPr lang="en-US" sz="4900" dirty="0"/>
          </a:p>
        </p:txBody>
      </p:sp>
      <p:sp>
        <p:nvSpPr>
          <p:cNvPr id="4" name="Text 1"/>
          <p:cNvSpPr/>
          <p:nvPr/>
        </p:nvSpPr>
        <p:spPr>
          <a:xfrm>
            <a:off x="793790" y="2541389"/>
            <a:ext cx="7556421" cy="1247299"/>
          </a:xfrm>
          <a:prstGeom prst="rect">
            <a:avLst/>
          </a:prstGeom>
          <a:noFill/>
          <a:ln/>
        </p:spPr>
        <p:txBody>
          <a:bodyPr wrap="square" lIns="0" tIns="0" rIns="0" bIns="0" rtlCol="0" anchor="t"/>
          <a:lstStyle/>
          <a:p>
            <a:pPr marL="0" indent="0" algn="l">
              <a:lnSpc>
                <a:spcPts val="4900"/>
              </a:lnSpc>
              <a:buNone/>
            </a:pPr>
            <a:r>
              <a:rPr lang="en-US" sz="3900" b="1">
                <a:solidFill>
                  <a:srgbClr val="F95F88"/>
                </a:solidFill>
                <a:latin typeface="Petrona Bold" pitchFamily="34" charset="0"/>
                <a:ea typeface="Petrona Bold" pitchFamily="34" charset="-122"/>
                <a:cs typeface="Petrona Bold" pitchFamily="34" charset="-120"/>
              </a:rPr>
              <a:t>Biến – Câu lệnh – Điều kiện</a:t>
            </a:r>
            <a:endParaRPr lang="en-US" sz="3900" dirty="0"/>
          </a:p>
        </p:txBody>
      </p:sp>
      <p:sp>
        <p:nvSpPr>
          <p:cNvPr id="5" name="Text 2"/>
          <p:cNvSpPr/>
          <p:nvPr/>
        </p:nvSpPr>
        <p:spPr>
          <a:xfrm>
            <a:off x="793790" y="4128849"/>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Trình bày bởi: </a:t>
            </a:r>
            <a:r>
              <a:rPr lang="en-US" sz="1750">
                <a:solidFill>
                  <a:srgbClr val="FD505F"/>
                </a:solidFill>
                <a:latin typeface="Inter" pitchFamily="34" charset="0"/>
                <a:ea typeface="Inter" pitchFamily="34" charset="-122"/>
                <a:cs typeface="Inter" pitchFamily="34" charset="-120"/>
              </a:rPr>
              <a:t>Nhóm 3</a:t>
            </a:r>
            <a:endParaRPr lang="en-US" sz="1750" dirty="0"/>
          </a:p>
        </p:txBody>
      </p:sp>
      <p:sp>
        <p:nvSpPr>
          <p:cNvPr id="6" name="Text 3"/>
          <p:cNvSpPr/>
          <p:nvPr/>
        </p:nvSpPr>
        <p:spPr>
          <a:xfrm>
            <a:off x="793790" y="4746903"/>
            <a:ext cx="9239896" cy="1088774"/>
          </a:xfrm>
          <a:prstGeom prst="rect">
            <a:avLst/>
          </a:prstGeom>
          <a:noFill/>
          <a:ln/>
        </p:spPr>
        <p:txBody>
          <a:bodyPr wrap="square" lIns="0" tIns="0" rIns="0" bIns="0" numCol="3" rtlCol="0" anchor="t"/>
          <a:lstStyle/>
          <a:p>
            <a:pPr marL="342900" indent="-342900" algn="l">
              <a:lnSpc>
                <a:spcPts val="2850"/>
              </a:lnSpc>
              <a:buSzPct val="100000"/>
              <a:buChar char="•"/>
            </a:pPr>
            <a:r>
              <a:rPr lang="en-US" sz="1600">
                <a:solidFill>
                  <a:srgbClr val="272525"/>
                </a:solidFill>
                <a:latin typeface="Inter" pitchFamily="34" charset="0"/>
                <a:ea typeface="Inter" pitchFamily="34" charset="-122"/>
              </a:rPr>
              <a:t>Lê Phú Toàn (nhóm trưởng)</a:t>
            </a:r>
          </a:p>
          <a:p>
            <a:pPr marL="342900" indent="-342900" algn="l">
              <a:lnSpc>
                <a:spcPts val="2850"/>
              </a:lnSpc>
              <a:buSzPct val="100000"/>
              <a:buChar char="•"/>
            </a:pPr>
            <a:r>
              <a:rPr lang="en-US" sz="1600">
                <a:solidFill>
                  <a:srgbClr val="272525"/>
                </a:solidFill>
                <a:latin typeface="Inter" pitchFamily="34" charset="0"/>
                <a:ea typeface="Inter" pitchFamily="34" charset="-122"/>
              </a:rPr>
              <a:t>Phạm Phương Anh</a:t>
            </a:r>
          </a:p>
          <a:p>
            <a:pPr marL="342900" indent="-342900" algn="l">
              <a:lnSpc>
                <a:spcPts val="2850"/>
              </a:lnSpc>
              <a:buSzPct val="100000"/>
              <a:buChar char="•"/>
            </a:pPr>
            <a:r>
              <a:rPr lang="en-US" sz="1600">
                <a:solidFill>
                  <a:srgbClr val="272525"/>
                </a:solidFill>
                <a:latin typeface="Inter" pitchFamily="34" charset="0"/>
                <a:ea typeface="Inter" pitchFamily="34" charset="-122"/>
              </a:rPr>
              <a:t>Lê Phương Linh</a:t>
            </a:r>
          </a:p>
          <a:p>
            <a:pPr marL="342900" indent="-342900" algn="l">
              <a:lnSpc>
                <a:spcPts val="2850"/>
              </a:lnSpc>
              <a:buSzPct val="100000"/>
              <a:buChar char="•"/>
            </a:pPr>
            <a:r>
              <a:rPr lang="en-US" sz="1600">
                <a:solidFill>
                  <a:srgbClr val="272525"/>
                </a:solidFill>
                <a:latin typeface="Inter" pitchFamily="34" charset="0"/>
                <a:ea typeface="Inter" pitchFamily="34" charset="-122"/>
              </a:rPr>
              <a:t>Trần Đăng Việt</a:t>
            </a:r>
          </a:p>
          <a:p>
            <a:pPr marL="342900" indent="-342900" algn="l">
              <a:lnSpc>
                <a:spcPts val="2850"/>
              </a:lnSpc>
              <a:buSzPct val="100000"/>
              <a:buChar char="•"/>
            </a:pPr>
            <a:r>
              <a:rPr lang="en-US" sz="1600">
                <a:solidFill>
                  <a:srgbClr val="272525"/>
                </a:solidFill>
                <a:latin typeface="Inter" pitchFamily="34" charset="0"/>
                <a:ea typeface="Inter" pitchFamily="34" charset="-122"/>
              </a:rPr>
              <a:t>Lê Duy Minh</a:t>
            </a:r>
            <a:endParaRPr lang="en-US" sz="1600" dirty="0"/>
          </a:p>
          <a:p>
            <a:pPr marL="342900" indent="-342900" algn="l">
              <a:lnSpc>
                <a:spcPts val="2850"/>
              </a:lnSpc>
              <a:buSzPct val="100000"/>
              <a:buChar char="•"/>
            </a:pPr>
            <a:r>
              <a:rPr lang="en-US" sz="1600">
                <a:solidFill>
                  <a:srgbClr val="272525"/>
                </a:solidFill>
                <a:latin typeface="Inter" pitchFamily="34" charset="0"/>
                <a:ea typeface="Inter" pitchFamily="34" charset="-122"/>
                <a:cs typeface="Inter" pitchFamily="34" charset="-120"/>
              </a:rPr>
              <a:t>Lê Tiến Đức</a:t>
            </a:r>
          </a:p>
          <a:p>
            <a:pPr marL="342900" indent="-342900" algn="l">
              <a:lnSpc>
                <a:spcPts val="2850"/>
              </a:lnSpc>
              <a:buSzPct val="100000"/>
              <a:buChar char="•"/>
            </a:pPr>
            <a:r>
              <a:rPr lang="en-US" sz="1600">
                <a:solidFill>
                  <a:srgbClr val="272525"/>
                </a:solidFill>
                <a:latin typeface="Inter" pitchFamily="34" charset="0"/>
                <a:ea typeface="Inter" pitchFamily="34" charset="-122"/>
                <a:cs typeface="Inter" pitchFamily="34" charset="-120"/>
              </a:rPr>
              <a:t>Trần Minh Quang</a:t>
            </a:r>
          </a:p>
          <a:p>
            <a:pPr marL="342900" indent="-342900" algn="l">
              <a:lnSpc>
                <a:spcPts val="2850"/>
              </a:lnSpc>
              <a:buSzPct val="100000"/>
              <a:buChar char="•"/>
            </a:pPr>
            <a:endParaRPr lang="en-US" sz="1600" dirty="0"/>
          </a:p>
        </p:txBody>
      </p:sp>
      <p:sp>
        <p:nvSpPr>
          <p:cNvPr id="7" name="Text 4"/>
          <p:cNvSpPr/>
          <p:nvPr/>
        </p:nvSpPr>
        <p:spPr>
          <a:xfrm>
            <a:off x="793790" y="6090828"/>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Giảng viên hướng dẫn: </a:t>
            </a:r>
            <a:endParaRPr lang="en-US" sz="1750" dirty="0"/>
          </a:p>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Thầy Nguyễn </a:t>
            </a:r>
            <a:r>
              <a:rPr lang="en-US" sz="1750">
                <a:solidFill>
                  <a:srgbClr val="272525"/>
                </a:solidFill>
                <a:latin typeface="Inter" pitchFamily="34" charset="0"/>
                <a:ea typeface="Inter" pitchFamily="34" charset="-122"/>
                <a:cs typeface="Inter" pitchFamily="34" charset="-120"/>
              </a:rPr>
              <a:t>Công Hưởng</a:t>
            </a:r>
          </a:p>
          <a:p>
            <a:pPr marL="0" indent="0" algn="l">
              <a:lnSpc>
                <a:spcPts val="2850"/>
              </a:lnSpc>
              <a:buNone/>
            </a:pPr>
            <a:r>
              <a:rPr lang="en-US" sz="1750">
                <a:solidFill>
                  <a:srgbClr val="272525"/>
                </a:solidFill>
                <a:latin typeface="Inter" pitchFamily="34" charset="0"/>
                <a:ea typeface="Inter" pitchFamily="34" charset="-122"/>
                <a:cs typeface="Inter" pitchFamily="34" charset="-120"/>
              </a:rPr>
              <a:t>Thầy Lê Thanh Hải</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496741" y="423863"/>
            <a:ext cx="4920377" cy="480060"/>
          </a:xfrm>
          <a:prstGeom prst="rect">
            <a:avLst/>
          </a:prstGeom>
          <a:noFill/>
          <a:ln/>
        </p:spPr>
        <p:txBody>
          <a:bodyPr wrap="none" lIns="0" tIns="0" rIns="0" bIns="0" rtlCol="0" anchor="t"/>
          <a:lstStyle/>
          <a:p>
            <a:pPr marL="0" indent="0" algn="l">
              <a:lnSpc>
                <a:spcPts val="3750"/>
              </a:lnSpc>
              <a:buNone/>
            </a:pPr>
            <a:r>
              <a:rPr lang="en-US" sz="3000" b="1" dirty="0">
                <a:solidFill>
                  <a:srgbClr val="F95F88"/>
                </a:solidFill>
                <a:latin typeface="Petrona Bold" pitchFamily="34" charset="0"/>
                <a:ea typeface="Petrona Bold" pitchFamily="34" charset="-122"/>
                <a:cs typeface="Petrona Bold" pitchFamily="34" charset="-120"/>
              </a:rPr>
              <a:t>Đặt vấn đề &amp; Mục tiêu dự án</a:t>
            </a:r>
            <a:endParaRPr lang="en-US" sz="3000" dirty="0"/>
          </a:p>
        </p:txBody>
      </p:sp>
      <p:sp>
        <p:nvSpPr>
          <p:cNvPr id="3" name="Text 1"/>
          <p:cNvSpPr/>
          <p:nvPr/>
        </p:nvSpPr>
        <p:spPr>
          <a:xfrm>
            <a:off x="2496741" y="1118830"/>
            <a:ext cx="2304455" cy="288131"/>
          </a:xfrm>
          <a:prstGeom prst="rect">
            <a:avLst/>
          </a:prstGeom>
          <a:noFill/>
          <a:ln/>
        </p:spPr>
        <p:txBody>
          <a:bodyPr wrap="none" lIns="0" tIns="0" rIns="0" bIns="0" rtlCol="0" anchor="t"/>
          <a:lstStyle/>
          <a:p>
            <a:pPr marL="0" indent="0" algn="l">
              <a:lnSpc>
                <a:spcPts val="2250"/>
              </a:lnSpc>
              <a:buNone/>
            </a:pPr>
            <a:r>
              <a:rPr lang="en-US" sz="1800" b="1" dirty="0">
                <a:solidFill>
                  <a:srgbClr val="F95F88"/>
                </a:solidFill>
                <a:latin typeface="Petrona Bold" pitchFamily="34" charset="0"/>
                <a:ea typeface="Petrona Bold" pitchFamily="34" charset="-122"/>
                <a:cs typeface="Petrona Bold" pitchFamily="34" charset="-120"/>
              </a:rPr>
              <a:t>Bối cảnh</a:t>
            </a:r>
            <a:endParaRPr lang="en-US" sz="1800" dirty="0"/>
          </a:p>
        </p:txBody>
      </p:sp>
      <p:sp>
        <p:nvSpPr>
          <p:cNvPr id="4" name="Text 2"/>
          <p:cNvSpPr/>
          <p:nvPr/>
        </p:nvSpPr>
        <p:spPr>
          <a:xfrm>
            <a:off x="2496741" y="1492925"/>
            <a:ext cx="4648081" cy="1372195"/>
          </a:xfrm>
          <a:prstGeom prst="rect">
            <a:avLst/>
          </a:prstGeom>
          <a:noFill/>
          <a:ln/>
        </p:spPr>
        <p:txBody>
          <a:bodyPr wrap="square" lIns="0" tIns="0" rIns="0" bIns="0" rtlCol="0" anchor="t"/>
          <a:lstStyle/>
          <a:p>
            <a:pPr>
              <a:lnSpc>
                <a:spcPts val="1400"/>
              </a:lnSpc>
            </a:pPr>
            <a:r>
              <a:rPr lang="vi-VN" sz="1050">
                <a:solidFill>
                  <a:srgbClr val="272525"/>
                </a:solidFill>
                <a:latin typeface="Inter" pitchFamily="34" charset="0"/>
                <a:ea typeface="Inter" pitchFamily="34" charset="-122"/>
                <a:cs typeface="Inter" pitchFamily="34" charset="-120"/>
              </a:rPr>
              <a:t>Nhiều học sinh nắm cú pháp Java cơ bản (biến, if/else, vòng lặp, mảng, chuỗi) nhưng khó áp dụng vào bài toán thực tế.</a:t>
            </a:r>
          </a:p>
          <a:p>
            <a:pPr>
              <a:lnSpc>
                <a:spcPts val="1400"/>
              </a:lnSpc>
            </a:pPr>
            <a:r>
              <a:rPr lang="vi-VN" sz="1050">
                <a:solidFill>
                  <a:srgbClr val="272525"/>
                </a:solidFill>
                <a:latin typeface="Inter" pitchFamily="34" charset="0"/>
                <a:ea typeface="Inter" pitchFamily="34" charset="-122"/>
                <a:cs typeface="Inter" pitchFamily="34" charset="-120"/>
              </a:rPr>
              <a:t>Khi làm các bài kiểu LeetCode thường gặp vấn đề:</a:t>
            </a:r>
          </a:p>
          <a:p>
            <a:pPr>
              <a:lnSpc>
                <a:spcPts val="1400"/>
              </a:lnSpc>
            </a:pPr>
            <a:r>
              <a:rPr lang="vi-VN" sz="1050">
                <a:solidFill>
                  <a:srgbClr val="272525"/>
                </a:solidFill>
                <a:latin typeface="Inter" pitchFamily="34" charset="0"/>
                <a:ea typeface="Inter" pitchFamily="34" charset="-122"/>
                <a:cs typeface="Inter" pitchFamily="34" charset="-120"/>
              </a:rPr>
              <a:t>Không biết tổ chức chương trình (nhập/xử lý/xuất) theo dạng menu.</a:t>
            </a:r>
          </a:p>
          <a:p>
            <a:pPr>
              <a:lnSpc>
                <a:spcPts val="1400"/>
              </a:lnSpc>
            </a:pPr>
            <a:r>
              <a:rPr lang="vi-VN" sz="1050">
                <a:solidFill>
                  <a:srgbClr val="272525"/>
                </a:solidFill>
                <a:latin typeface="Inter" pitchFamily="34" charset="0"/>
                <a:ea typeface="Inter" pitchFamily="34" charset="-122"/>
                <a:cs typeface="Inter" pitchFamily="34" charset="-120"/>
              </a:rPr>
              <a:t>Dễ sai ở trường hợp đặc biệt (mảng rỗng, chuỗi toàn khoảng trắng, ký tự đặc biệt).</a:t>
            </a:r>
          </a:p>
          <a:p>
            <a:pPr>
              <a:lnSpc>
                <a:spcPts val="1400"/>
              </a:lnSpc>
            </a:pPr>
            <a:r>
              <a:rPr lang="vi-VN" sz="1050">
                <a:solidFill>
                  <a:srgbClr val="272525"/>
                </a:solidFill>
                <a:latin typeface="Inter" pitchFamily="34" charset="0"/>
                <a:ea typeface="Inter" pitchFamily="34" charset="-122"/>
                <a:cs typeface="Inter" pitchFamily="34" charset="-120"/>
              </a:rPr>
              <a:t>Code giải từng bài rời rạc, khó tái sử dụng, thiếu cấu trúc rõ ràng.</a:t>
            </a:r>
            <a:endParaRPr lang="en-US" sz="1050" dirty="0"/>
          </a:p>
        </p:txBody>
      </p:sp>
      <p:pic>
        <p:nvPicPr>
          <p:cNvPr id="5" name="Image 0" descr="preencoded.png"/>
          <p:cNvPicPr>
            <a:picLocks noChangeAspect="1"/>
          </p:cNvPicPr>
          <p:nvPr/>
        </p:nvPicPr>
        <p:blipFill>
          <a:blip r:embed="rId3"/>
          <a:stretch>
            <a:fillRect/>
          </a:stretch>
        </p:blipFill>
        <p:spPr>
          <a:xfrm>
            <a:off x="7493198" y="3454122"/>
            <a:ext cx="2570322" cy="2570322"/>
          </a:xfrm>
          <a:prstGeom prst="rect">
            <a:avLst/>
          </a:prstGeom>
        </p:spPr>
      </p:pic>
      <p:sp>
        <p:nvSpPr>
          <p:cNvPr id="6" name="Text 3"/>
          <p:cNvSpPr/>
          <p:nvPr/>
        </p:nvSpPr>
        <p:spPr>
          <a:xfrm>
            <a:off x="7493198" y="1118830"/>
            <a:ext cx="2304455" cy="288131"/>
          </a:xfrm>
          <a:prstGeom prst="rect">
            <a:avLst/>
          </a:prstGeom>
          <a:noFill/>
          <a:ln/>
        </p:spPr>
        <p:txBody>
          <a:bodyPr wrap="none" lIns="0" tIns="0" rIns="0" bIns="0" rtlCol="0" anchor="t"/>
          <a:lstStyle/>
          <a:p>
            <a:pPr marL="0" indent="0" algn="l">
              <a:lnSpc>
                <a:spcPts val="2250"/>
              </a:lnSpc>
              <a:buNone/>
            </a:pPr>
            <a:r>
              <a:rPr lang="en-US" sz="1800" b="1" dirty="0">
                <a:solidFill>
                  <a:srgbClr val="F95F88"/>
                </a:solidFill>
                <a:latin typeface="Petrona Bold" pitchFamily="34" charset="0"/>
                <a:ea typeface="Petrona Bold" pitchFamily="34" charset="-122"/>
                <a:cs typeface="Petrona Bold" pitchFamily="34" charset="-120"/>
              </a:rPr>
              <a:t>Giải pháp</a:t>
            </a:r>
            <a:endParaRPr lang="en-US" sz="1800" dirty="0"/>
          </a:p>
        </p:txBody>
      </p:sp>
      <p:sp>
        <p:nvSpPr>
          <p:cNvPr id="7" name="Text 4"/>
          <p:cNvSpPr/>
          <p:nvPr/>
        </p:nvSpPr>
        <p:spPr>
          <a:xfrm>
            <a:off x="7493198" y="1492925"/>
            <a:ext cx="4648081" cy="1604266"/>
          </a:xfrm>
          <a:prstGeom prst="rect">
            <a:avLst/>
          </a:prstGeom>
          <a:noFill/>
          <a:ln/>
        </p:spPr>
        <p:txBody>
          <a:bodyPr wrap="square" lIns="0" tIns="0" rIns="0" bIns="0" rtlCol="0" anchor="t"/>
          <a:lstStyle/>
          <a:p>
            <a:pPr>
              <a:lnSpc>
                <a:spcPts val="1400"/>
              </a:lnSpc>
            </a:pPr>
            <a:r>
              <a:rPr lang="vi-VN" sz="1050">
                <a:solidFill>
                  <a:srgbClr val="272525"/>
                </a:solidFill>
                <a:latin typeface="Inter" pitchFamily="34" charset="0"/>
                <a:ea typeface="Inter" pitchFamily="34" charset="-122"/>
                <a:cs typeface="Inter" pitchFamily="34" charset="-120"/>
              </a:rPr>
              <a:t>Xây dựng một ứng dụng Java Console chạy theo Menu, cho phép người dùng chọn 1 trong 5 chức năng: </a:t>
            </a:r>
            <a:endParaRPr lang="en-US" sz="1050">
              <a:solidFill>
                <a:srgbClr val="272525"/>
              </a:solidFill>
              <a:latin typeface="Inter" pitchFamily="34" charset="0"/>
              <a:ea typeface="Inter" pitchFamily="34" charset="-122"/>
              <a:cs typeface="Inter" pitchFamily="34" charset="-120"/>
            </a:endParaRPr>
          </a:p>
          <a:p>
            <a:pPr>
              <a:lnSpc>
                <a:spcPts val="1400"/>
              </a:lnSpc>
            </a:pPr>
            <a:r>
              <a:rPr lang="vi-VN" sz="1050">
                <a:solidFill>
                  <a:srgbClr val="272525"/>
                </a:solidFill>
                <a:latin typeface="Inter" pitchFamily="34" charset="0"/>
                <a:ea typeface="Inter" pitchFamily="34" charset="-122"/>
                <a:cs typeface="Inter" pitchFamily="34" charset="-120"/>
              </a:rPr>
              <a:t>1) </a:t>
            </a:r>
            <a:r>
              <a:rPr lang="en-US" sz="1050">
                <a:solidFill>
                  <a:srgbClr val="272525"/>
                </a:solidFill>
                <a:latin typeface="Inter" pitchFamily="34" charset="0"/>
                <a:ea typeface="Inter" pitchFamily="34" charset="-122"/>
                <a:cs typeface="Inter" pitchFamily="34" charset="-120"/>
              </a:rPr>
              <a:t>Tìm cặp số có tổng = K</a:t>
            </a:r>
            <a:endParaRPr lang="vi-VN" sz="1050">
              <a:solidFill>
                <a:srgbClr val="272525"/>
              </a:solidFill>
              <a:latin typeface="Inter" pitchFamily="34" charset="0"/>
              <a:ea typeface="Inter" pitchFamily="34" charset="-122"/>
              <a:cs typeface="Inter" pitchFamily="34" charset="-120"/>
            </a:endParaRPr>
          </a:p>
          <a:p>
            <a:pPr>
              <a:lnSpc>
                <a:spcPts val="1400"/>
              </a:lnSpc>
            </a:pPr>
            <a:r>
              <a:rPr lang="vi-VN" sz="1050">
                <a:solidFill>
                  <a:srgbClr val="272525"/>
                </a:solidFill>
                <a:latin typeface="Inter" pitchFamily="34" charset="0"/>
                <a:ea typeface="Inter" pitchFamily="34" charset="-122"/>
                <a:cs typeface="Inter" pitchFamily="34" charset="-120"/>
              </a:rPr>
              <a:t>2) </a:t>
            </a:r>
            <a:r>
              <a:rPr lang="en-US" sz="1050">
                <a:solidFill>
                  <a:srgbClr val="272525"/>
                </a:solidFill>
                <a:latin typeface="Inter" pitchFamily="34" charset="0"/>
                <a:ea typeface="Inter" pitchFamily="34" charset="-122"/>
                <a:cs typeface="Inter" pitchFamily="34" charset="-120"/>
              </a:rPr>
              <a:t>Dồn số 0 về cuối</a:t>
            </a:r>
            <a:endParaRPr lang="vi-VN" sz="1050">
              <a:solidFill>
                <a:srgbClr val="272525"/>
              </a:solidFill>
              <a:latin typeface="Inter" pitchFamily="34" charset="0"/>
              <a:ea typeface="Inter" pitchFamily="34" charset="-122"/>
              <a:cs typeface="Inter" pitchFamily="34" charset="-120"/>
            </a:endParaRPr>
          </a:p>
          <a:p>
            <a:pPr>
              <a:lnSpc>
                <a:spcPts val="1400"/>
              </a:lnSpc>
            </a:pPr>
            <a:r>
              <a:rPr lang="vi-VN" sz="1050">
                <a:solidFill>
                  <a:srgbClr val="272525"/>
                </a:solidFill>
                <a:latin typeface="Inter" pitchFamily="34" charset="0"/>
                <a:ea typeface="Inter" pitchFamily="34" charset="-122"/>
                <a:cs typeface="Inter" pitchFamily="34" charset="-120"/>
              </a:rPr>
              <a:t>3) </a:t>
            </a:r>
            <a:r>
              <a:rPr lang="en-US" sz="1050">
                <a:solidFill>
                  <a:srgbClr val="272525"/>
                </a:solidFill>
                <a:latin typeface="Inter" pitchFamily="34" charset="0"/>
                <a:ea typeface="Inter" pitchFamily="34" charset="-122"/>
                <a:cs typeface="Inter" pitchFamily="34" charset="-120"/>
              </a:rPr>
              <a:t>Chuỗi đối xứng</a:t>
            </a:r>
            <a:endParaRPr lang="vi-VN" sz="1050">
              <a:solidFill>
                <a:srgbClr val="272525"/>
              </a:solidFill>
              <a:latin typeface="Inter" pitchFamily="34" charset="0"/>
              <a:ea typeface="Inter" pitchFamily="34" charset="-122"/>
              <a:cs typeface="Inter" pitchFamily="34" charset="-120"/>
            </a:endParaRPr>
          </a:p>
          <a:p>
            <a:pPr>
              <a:lnSpc>
                <a:spcPts val="1400"/>
              </a:lnSpc>
            </a:pPr>
            <a:r>
              <a:rPr lang="vi-VN" sz="1050">
                <a:solidFill>
                  <a:srgbClr val="272525"/>
                </a:solidFill>
                <a:latin typeface="Inter" pitchFamily="34" charset="0"/>
                <a:ea typeface="Inter" pitchFamily="34" charset="-122"/>
                <a:cs typeface="Inter" pitchFamily="34" charset="-120"/>
              </a:rPr>
              <a:t>4) </a:t>
            </a:r>
            <a:r>
              <a:rPr lang="en-US" sz="1050">
                <a:solidFill>
                  <a:srgbClr val="272525"/>
                </a:solidFill>
                <a:latin typeface="Inter" pitchFamily="34" charset="0"/>
                <a:ea typeface="Inter" pitchFamily="34" charset="-122"/>
                <a:cs typeface="Inter" pitchFamily="34" charset="-120"/>
              </a:rPr>
              <a:t>Đảo ngược từ</a:t>
            </a:r>
            <a:endParaRPr lang="vi-VN" sz="1050">
              <a:solidFill>
                <a:srgbClr val="272525"/>
              </a:solidFill>
              <a:latin typeface="Inter" pitchFamily="34" charset="0"/>
              <a:ea typeface="Inter" pitchFamily="34" charset="-122"/>
              <a:cs typeface="Inter" pitchFamily="34" charset="-120"/>
            </a:endParaRPr>
          </a:p>
          <a:p>
            <a:pPr>
              <a:lnSpc>
                <a:spcPts val="1400"/>
              </a:lnSpc>
            </a:pPr>
            <a:r>
              <a:rPr lang="vi-VN" sz="1050">
                <a:solidFill>
                  <a:srgbClr val="272525"/>
                </a:solidFill>
                <a:latin typeface="Inter" pitchFamily="34" charset="0"/>
                <a:ea typeface="Inter" pitchFamily="34" charset="-122"/>
                <a:cs typeface="Inter" pitchFamily="34" charset="-120"/>
              </a:rPr>
              <a:t>5) </a:t>
            </a:r>
            <a:r>
              <a:rPr lang="en-US" sz="1050">
                <a:solidFill>
                  <a:srgbClr val="272525"/>
                </a:solidFill>
                <a:latin typeface="Inter" pitchFamily="34" charset="0"/>
                <a:ea typeface="Inter" pitchFamily="34" charset="-122"/>
                <a:cs typeface="Inter" pitchFamily="34" charset="-120"/>
              </a:rPr>
              <a:t>Số hạnh phúc</a:t>
            </a:r>
            <a:endParaRPr lang="vi-VN" sz="1050">
              <a:solidFill>
                <a:srgbClr val="272525"/>
              </a:solidFill>
              <a:latin typeface="Inter" pitchFamily="34" charset="0"/>
              <a:ea typeface="Inter" pitchFamily="34" charset="-122"/>
              <a:cs typeface="Inter" pitchFamily="34" charset="-120"/>
            </a:endParaRPr>
          </a:p>
          <a:p>
            <a:pPr>
              <a:lnSpc>
                <a:spcPts val="1400"/>
              </a:lnSpc>
            </a:pPr>
            <a:r>
              <a:rPr lang="vi-VN" sz="1050">
                <a:solidFill>
                  <a:srgbClr val="272525"/>
                </a:solidFill>
                <a:latin typeface="Inter" pitchFamily="34" charset="0"/>
                <a:ea typeface="Inter" pitchFamily="34" charset="-122"/>
                <a:cs typeface="Inter" pitchFamily="34" charset="-120"/>
              </a:rPr>
              <a:t>Mỗi chức năng: nhập dữ liệu → xử lý thuật toán → in kết quả → quay lại menu, giúp luyện tập theo quy trình hoàn chỉn</a:t>
            </a:r>
            <a:r>
              <a:rPr lang="en-US" sz="1050">
                <a:solidFill>
                  <a:srgbClr val="272525"/>
                </a:solidFill>
                <a:latin typeface="Inter" pitchFamily="34" charset="0"/>
                <a:ea typeface="Inter" pitchFamily="34" charset="-122"/>
                <a:cs typeface="Inter" pitchFamily="34" charset="-120"/>
              </a:rPr>
              <a:t>h</a:t>
            </a:r>
            <a:endParaRPr lang="en-US" sz="1050" dirty="0"/>
          </a:p>
        </p:txBody>
      </p:sp>
      <p:pic>
        <p:nvPicPr>
          <p:cNvPr id="8" name="Image 1" descr="preencoded.png"/>
          <p:cNvPicPr>
            <a:picLocks noChangeAspect="1"/>
          </p:cNvPicPr>
          <p:nvPr/>
        </p:nvPicPr>
        <p:blipFill>
          <a:blip r:embed="rId4"/>
          <a:stretch>
            <a:fillRect/>
          </a:stretch>
        </p:blipFill>
        <p:spPr>
          <a:xfrm>
            <a:off x="2496741" y="3454122"/>
            <a:ext cx="2570322" cy="2570322"/>
          </a:xfrm>
          <a:prstGeom prst="rect">
            <a:avLst/>
          </a:prstGeom>
        </p:spPr>
      </p:pic>
      <p:sp>
        <p:nvSpPr>
          <p:cNvPr id="9" name="Shape 5"/>
          <p:cNvSpPr/>
          <p:nvPr/>
        </p:nvSpPr>
        <p:spPr>
          <a:xfrm>
            <a:off x="2481501" y="7137797"/>
            <a:ext cx="30480" cy="683062"/>
          </a:xfrm>
          <a:prstGeom prst="rect">
            <a:avLst/>
          </a:prstGeom>
          <a:solidFill>
            <a:srgbClr val="6237C8"/>
          </a:solidFill>
          <a:ln/>
        </p:spPr>
        <p:txBody>
          <a:bodyPr/>
          <a:lstStyle/>
          <a:p>
            <a:endParaRPr lang="vi-VN"/>
          </a:p>
        </p:txBody>
      </p:sp>
      <p:sp>
        <p:nvSpPr>
          <p:cNvPr id="10" name="Text 6"/>
          <p:cNvSpPr/>
          <p:nvPr/>
        </p:nvSpPr>
        <p:spPr>
          <a:xfrm>
            <a:off x="2666881" y="7153037"/>
            <a:ext cx="1920359" cy="240030"/>
          </a:xfrm>
          <a:prstGeom prst="rect">
            <a:avLst/>
          </a:prstGeom>
          <a:noFill/>
          <a:ln/>
        </p:spPr>
        <p:txBody>
          <a:bodyPr wrap="none" lIns="0" tIns="0" rIns="0" bIns="0" rtlCol="0" anchor="t"/>
          <a:lstStyle/>
          <a:p>
            <a:pPr marL="0" indent="0" algn="l">
              <a:lnSpc>
                <a:spcPts val="1850"/>
              </a:lnSpc>
              <a:buNone/>
            </a:pPr>
            <a:r>
              <a:rPr lang="en-US" sz="1500" b="1" dirty="0">
                <a:solidFill>
                  <a:srgbClr val="272525"/>
                </a:solidFill>
                <a:latin typeface="Petrona Bold" pitchFamily="34" charset="0"/>
                <a:ea typeface="Petrona Bold" pitchFamily="34" charset="-122"/>
                <a:cs typeface="Petrona Bold" pitchFamily="34" charset="-120"/>
              </a:rPr>
              <a:t>Mục tiêu dự án</a:t>
            </a:r>
            <a:endParaRPr lang="en-US" sz="1500" dirty="0"/>
          </a:p>
        </p:txBody>
      </p:sp>
      <p:sp>
        <p:nvSpPr>
          <p:cNvPr id="11" name="Text 7"/>
          <p:cNvSpPr/>
          <p:nvPr/>
        </p:nvSpPr>
        <p:spPr>
          <a:xfrm>
            <a:off x="2666881" y="7444621"/>
            <a:ext cx="9466778" cy="360998"/>
          </a:xfrm>
          <a:prstGeom prst="rect">
            <a:avLst/>
          </a:prstGeom>
          <a:noFill/>
          <a:ln/>
        </p:spPr>
        <p:txBody>
          <a:bodyPr wrap="square" lIns="0" tIns="0" rIns="0" bIns="0" rtlCol="0" anchor="t"/>
          <a:lstStyle/>
          <a:p>
            <a:pPr marL="0" indent="0" algn="l">
              <a:lnSpc>
                <a:spcPts val="1400"/>
              </a:lnSpc>
              <a:buNone/>
            </a:pPr>
            <a:r>
              <a:rPr lang="en-US" sz="1050" dirty="0">
                <a:solidFill>
                  <a:srgbClr val="272525"/>
                </a:solidFill>
                <a:latin typeface="Inter" pitchFamily="34" charset="0"/>
                <a:ea typeface="Inter" pitchFamily="34" charset="-122"/>
                <a:cs typeface="Inter" pitchFamily="34" charset="-120"/>
              </a:rPr>
              <a:t>Áp dụng thành thạo kiến thức Java căn bản (Mảng, Vòng lặp, Chuỗi, Regex) vào thực tế. Rèn luyện tư duy lập trình logic và kỹ năng làm việc nhóm hiệu quả với Git/GitHub.</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1134785"/>
            <a:ext cx="1499354" cy="426244"/>
          </a:xfrm>
          <a:prstGeom prst="roundRect">
            <a:avLst>
              <a:gd name="adj" fmla="val 17880"/>
            </a:avLst>
          </a:prstGeom>
          <a:solidFill>
            <a:srgbClr val="E0D7F4"/>
          </a:solidFill>
          <a:ln/>
        </p:spPr>
        <p:txBody>
          <a:bodyPr/>
          <a:lstStyle/>
          <a:p>
            <a:endParaRPr lang="vi-VN"/>
          </a:p>
        </p:txBody>
      </p:sp>
      <p:sp>
        <p:nvSpPr>
          <p:cNvPr id="3" name="Text 1"/>
          <p:cNvSpPr/>
          <p:nvPr/>
        </p:nvSpPr>
        <p:spPr>
          <a:xfrm>
            <a:off x="929878" y="1202769"/>
            <a:ext cx="1227177"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QUAN TRỌNG</a:t>
            </a:r>
            <a:endParaRPr lang="en-US" sz="1400" dirty="0"/>
          </a:p>
        </p:txBody>
      </p:sp>
      <p:sp>
        <p:nvSpPr>
          <p:cNvPr id="4" name="Text 2"/>
          <p:cNvSpPr/>
          <p:nvPr/>
        </p:nvSpPr>
        <p:spPr>
          <a:xfrm>
            <a:off x="793790" y="1651754"/>
            <a:ext cx="6237684" cy="779621"/>
          </a:xfrm>
          <a:prstGeom prst="rect">
            <a:avLst/>
          </a:prstGeom>
          <a:noFill/>
          <a:ln/>
        </p:spPr>
        <p:txBody>
          <a:bodyPr wrap="none" lIns="0" tIns="0" rIns="0" bIns="0" rtlCol="0" anchor="t"/>
          <a:lstStyle/>
          <a:p>
            <a:pPr marL="0" indent="0" algn="l">
              <a:lnSpc>
                <a:spcPts val="6100"/>
              </a:lnSpc>
              <a:buNone/>
            </a:pPr>
            <a:r>
              <a:rPr lang="en-US" sz="4900" b="1" dirty="0">
                <a:solidFill>
                  <a:srgbClr val="F95F88"/>
                </a:solidFill>
                <a:latin typeface="Petrona Bold" pitchFamily="34" charset="0"/>
                <a:ea typeface="Petrona Bold" pitchFamily="34" charset="-122"/>
                <a:cs typeface="Petrona Bold" pitchFamily="34" charset="-120"/>
              </a:rPr>
              <a:t>Phân công công việc</a:t>
            </a:r>
            <a:endParaRPr lang="en-US" sz="4900" dirty="0"/>
          </a:p>
        </p:txBody>
      </p:sp>
      <p:sp>
        <p:nvSpPr>
          <p:cNvPr id="5" name="Text 3"/>
          <p:cNvSpPr/>
          <p:nvPr/>
        </p:nvSpPr>
        <p:spPr>
          <a:xfrm>
            <a:off x="793790" y="2771537"/>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Dưới đây là bảng phân công chi tiết công việc của từng thành viên trong nhóm, đảm bảo mỗi người đều đóng góp vào sự thành công của dự án.</a:t>
            </a:r>
            <a:endParaRPr lang="en-US" sz="1750" dirty="0"/>
          </a:p>
        </p:txBody>
      </p:sp>
      <p:graphicFrame>
        <p:nvGraphicFramePr>
          <p:cNvPr id="33" name="Bảng 32">
            <a:extLst>
              <a:ext uri="{FF2B5EF4-FFF2-40B4-BE49-F238E27FC236}">
                <a16:creationId xmlns:a16="http://schemas.microsoft.com/office/drawing/2014/main" id="{C64E3B59-6812-4053-F702-551118D569A5}"/>
              </a:ext>
            </a:extLst>
          </p:cNvPr>
          <p:cNvGraphicFramePr>
            <a:graphicFrameLocks noGrp="1"/>
          </p:cNvGraphicFramePr>
          <p:nvPr>
            <p:extLst>
              <p:ext uri="{D42A27DB-BD31-4B8C-83A1-F6EECF244321}">
                <p14:modId xmlns:p14="http://schemas.microsoft.com/office/powerpoint/2010/main" val="274724855"/>
              </p:ext>
            </p:extLst>
          </p:nvPr>
        </p:nvGraphicFramePr>
        <p:xfrm>
          <a:off x="793790" y="3759200"/>
          <a:ext cx="12952692" cy="3898900"/>
        </p:xfrm>
        <a:graphic>
          <a:graphicData uri="http://schemas.openxmlformats.org/drawingml/2006/table">
            <a:tbl>
              <a:tblPr firstRow="1" bandRow="1">
                <a:tableStyleId>{F5AB1C69-6EDB-4FF4-983F-18BD219EF322}</a:tableStyleId>
              </a:tblPr>
              <a:tblGrid>
                <a:gridCol w="3238173">
                  <a:extLst>
                    <a:ext uri="{9D8B030D-6E8A-4147-A177-3AD203B41FA5}">
                      <a16:colId xmlns:a16="http://schemas.microsoft.com/office/drawing/2014/main" val="2320527315"/>
                    </a:ext>
                  </a:extLst>
                </a:gridCol>
                <a:gridCol w="3238173">
                  <a:extLst>
                    <a:ext uri="{9D8B030D-6E8A-4147-A177-3AD203B41FA5}">
                      <a16:colId xmlns:a16="http://schemas.microsoft.com/office/drawing/2014/main" val="1336846319"/>
                    </a:ext>
                  </a:extLst>
                </a:gridCol>
                <a:gridCol w="3238173">
                  <a:extLst>
                    <a:ext uri="{9D8B030D-6E8A-4147-A177-3AD203B41FA5}">
                      <a16:colId xmlns:a16="http://schemas.microsoft.com/office/drawing/2014/main" val="22430036"/>
                    </a:ext>
                  </a:extLst>
                </a:gridCol>
                <a:gridCol w="3238173">
                  <a:extLst>
                    <a:ext uri="{9D8B030D-6E8A-4147-A177-3AD203B41FA5}">
                      <a16:colId xmlns:a16="http://schemas.microsoft.com/office/drawing/2014/main" val="2581414869"/>
                    </a:ext>
                  </a:extLst>
                </a:gridCol>
              </a:tblGrid>
              <a:tr h="779780">
                <a:tc>
                  <a:txBody>
                    <a:bodyPr/>
                    <a:lstStyle/>
                    <a:p>
                      <a:r>
                        <a:rPr lang="en-US"/>
                        <a:t>Thành Viên</a:t>
                      </a:r>
                      <a:endParaRPr lang="vi-VN"/>
                    </a:p>
                  </a:txBody>
                  <a:tcPr/>
                </a:tc>
                <a:tc>
                  <a:txBody>
                    <a:bodyPr/>
                    <a:lstStyle/>
                    <a:p>
                      <a:r>
                        <a:rPr lang="en-US"/>
                        <a:t>Vai Trò</a:t>
                      </a:r>
                      <a:endParaRPr lang="vi-VN"/>
                    </a:p>
                  </a:txBody>
                  <a:tcPr/>
                </a:tc>
                <a:tc>
                  <a:txBody>
                    <a:bodyPr/>
                    <a:lstStyle/>
                    <a:p>
                      <a:r>
                        <a:rPr lang="en-US"/>
                        <a:t>Nhiệm Vụ Chính</a:t>
                      </a:r>
                      <a:endParaRPr lang="vi-VN"/>
                    </a:p>
                  </a:txBody>
                  <a:tcPr/>
                </a:tc>
                <a:tc>
                  <a:txBody>
                    <a:bodyPr/>
                    <a:lstStyle/>
                    <a:p>
                      <a:r>
                        <a:rPr lang="en-US"/>
                        <a:t>Mức độ hoàn thành</a:t>
                      </a:r>
                      <a:endParaRPr lang="vi-VN"/>
                    </a:p>
                  </a:txBody>
                  <a:tcPr/>
                </a:tc>
                <a:extLst>
                  <a:ext uri="{0D108BD9-81ED-4DB2-BD59-A6C34878D82A}">
                    <a16:rowId xmlns:a16="http://schemas.microsoft.com/office/drawing/2014/main" val="3192695707"/>
                  </a:ext>
                </a:extLst>
              </a:tr>
              <a:tr h="779780">
                <a:tc>
                  <a:txBody>
                    <a:bodyPr/>
                    <a:lstStyle/>
                    <a:p>
                      <a:r>
                        <a:rPr lang="en-US"/>
                        <a:t>Lê Phú Toàn</a:t>
                      </a:r>
                      <a:endParaRPr lang="vi-VN"/>
                    </a:p>
                  </a:txBody>
                  <a:tcPr/>
                </a:tc>
                <a:tc>
                  <a:txBody>
                    <a:bodyPr/>
                    <a:lstStyle/>
                    <a:p>
                      <a:r>
                        <a:rPr lang="en-US"/>
                        <a:t>Team Leader</a:t>
                      </a:r>
                      <a:endParaRPr lang="vi-VN"/>
                    </a:p>
                  </a:txBody>
                  <a:tcPr/>
                </a:tc>
                <a:tc>
                  <a:txBody>
                    <a:bodyPr/>
                    <a:lstStyle/>
                    <a:p>
                      <a:r>
                        <a:rPr lang="en-US"/>
                        <a:t>Dựng khung dự án, Merge Code, Làm Slide</a:t>
                      </a:r>
                      <a:endParaRPr lang="vi-VN"/>
                    </a:p>
                  </a:txBody>
                  <a:tcPr/>
                </a:tc>
                <a:tc>
                  <a:txBody>
                    <a:bodyPr/>
                    <a:lstStyle/>
                    <a:p>
                      <a:r>
                        <a:rPr lang="en-US"/>
                        <a:t>100%</a:t>
                      </a:r>
                      <a:endParaRPr lang="vi-VN"/>
                    </a:p>
                  </a:txBody>
                  <a:tcPr/>
                </a:tc>
                <a:extLst>
                  <a:ext uri="{0D108BD9-81ED-4DB2-BD59-A6C34878D82A}">
                    <a16:rowId xmlns:a16="http://schemas.microsoft.com/office/drawing/2014/main" val="2617993506"/>
                  </a:ext>
                </a:extLst>
              </a:tr>
              <a:tr h="779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effectLst/>
                        </a:rPr>
                        <a:t>Phạm Phương Anh, Lê Phương Linh</a:t>
                      </a:r>
                      <a:endParaRPr lang="vi-VN"/>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dk1"/>
                          </a:solidFill>
                          <a:effectLst/>
                          <a:latin typeface="+mn-lt"/>
                          <a:ea typeface="+mn-ea"/>
                          <a:cs typeface="+mn-cs"/>
                        </a:rPr>
                        <a:t>Dev</a:t>
                      </a:r>
                      <a:endParaRPr lang="vi-VN"/>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200">
                          <a:solidFill>
                            <a:schemeClr val="dk1"/>
                          </a:solidFill>
                          <a:effectLst/>
                          <a:latin typeface="+mn-lt"/>
                          <a:ea typeface="+mn-ea"/>
                          <a:cs typeface="+mn-cs"/>
                        </a:rPr>
                        <a:t>[FR1]</a:t>
                      </a:r>
                      <a:r>
                        <a:rPr lang="en-US" sz="1800" kern="1200">
                          <a:solidFill>
                            <a:schemeClr val="dk1"/>
                          </a:solidFill>
                          <a:effectLst/>
                          <a:latin typeface="+mn-lt"/>
                          <a:ea typeface="+mn-ea"/>
                          <a:cs typeface="+mn-cs"/>
                        </a:rPr>
                        <a:t> , </a:t>
                      </a:r>
                      <a:r>
                        <a:rPr lang="vi-VN" sz="1800" kern="1200">
                          <a:solidFill>
                            <a:schemeClr val="dk1"/>
                          </a:solidFill>
                          <a:effectLst/>
                          <a:latin typeface="+mn-lt"/>
                          <a:ea typeface="+mn-ea"/>
                          <a:cs typeface="+mn-cs"/>
                        </a:rPr>
                        <a:t>[FR2]</a:t>
                      </a:r>
                    </a:p>
                    <a:p>
                      <a:endParaRPr lang="vi-VN"/>
                    </a:p>
                  </a:txBody>
                  <a:tcPr/>
                </a:tc>
                <a:tc>
                  <a:txBody>
                    <a:bodyPr/>
                    <a:lstStyle/>
                    <a:p>
                      <a:r>
                        <a:rPr lang="en-US"/>
                        <a:t>95%</a:t>
                      </a:r>
                      <a:endParaRPr lang="vi-VN"/>
                    </a:p>
                  </a:txBody>
                  <a:tcPr/>
                </a:tc>
                <a:extLst>
                  <a:ext uri="{0D108BD9-81ED-4DB2-BD59-A6C34878D82A}">
                    <a16:rowId xmlns:a16="http://schemas.microsoft.com/office/drawing/2014/main" val="2201567443"/>
                  </a:ext>
                </a:extLst>
              </a:tr>
              <a:tr h="779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effectLst/>
                        </a:rPr>
                        <a:t>Trần Đăng Việt, Lê Tiến Đức</a:t>
                      </a:r>
                      <a:endParaRPr lang="vi-VN"/>
                    </a:p>
                    <a:p>
                      <a:endParaRPr lang="vi-VN"/>
                    </a:p>
                  </a:txBody>
                  <a:tcPr/>
                </a:tc>
                <a:tc>
                  <a:txBody>
                    <a:bodyPr/>
                    <a:lstStyle/>
                    <a:p>
                      <a:r>
                        <a:rPr lang="en-US"/>
                        <a:t>Dev</a:t>
                      </a:r>
                      <a:endParaRPr lang="vi-VN"/>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200">
                          <a:solidFill>
                            <a:schemeClr val="dk1"/>
                          </a:solidFill>
                          <a:effectLst/>
                          <a:latin typeface="+mn-lt"/>
                          <a:ea typeface="+mn-ea"/>
                          <a:cs typeface="+mn-cs"/>
                        </a:rPr>
                        <a:t>[FR5]</a:t>
                      </a:r>
                    </a:p>
                  </a:txBody>
                  <a:tcPr/>
                </a:tc>
                <a:tc>
                  <a:txBody>
                    <a:bodyPr/>
                    <a:lstStyle/>
                    <a:p>
                      <a:r>
                        <a:rPr lang="en-US"/>
                        <a:t>100%</a:t>
                      </a:r>
                      <a:endParaRPr lang="vi-VN"/>
                    </a:p>
                  </a:txBody>
                  <a:tcPr/>
                </a:tc>
                <a:extLst>
                  <a:ext uri="{0D108BD9-81ED-4DB2-BD59-A6C34878D82A}">
                    <a16:rowId xmlns:a16="http://schemas.microsoft.com/office/drawing/2014/main" val="880552348"/>
                  </a:ext>
                </a:extLst>
              </a:tr>
              <a:tr h="779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effectLst/>
                        </a:rPr>
                        <a:t>Lê Duy Minh, Trần Minh Quang</a:t>
                      </a:r>
                      <a:endParaRPr lang="vi-VN"/>
                    </a:p>
                  </a:txBody>
                  <a:tcPr/>
                </a:tc>
                <a:tc>
                  <a:txBody>
                    <a:bodyPr/>
                    <a:lstStyle/>
                    <a:p>
                      <a:r>
                        <a:rPr lang="en-US"/>
                        <a:t>Dev</a:t>
                      </a:r>
                      <a:endParaRPr lang="vi-VN"/>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200">
                          <a:solidFill>
                            <a:schemeClr val="dk1"/>
                          </a:solidFill>
                          <a:effectLst/>
                          <a:latin typeface="+mn-lt"/>
                          <a:ea typeface="+mn-ea"/>
                          <a:cs typeface="+mn-cs"/>
                        </a:rPr>
                        <a:t>[FR3]</a:t>
                      </a:r>
                      <a:r>
                        <a:rPr lang="en-US" sz="1800" kern="1200">
                          <a:solidFill>
                            <a:schemeClr val="dk1"/>
                          </a:solidFill>
                          <a:effectLst/>
                          <a:latin typeface="+mn-lt"/>
                          <a:ea typeface="+mn-ea"/>
                          <a:cs typeface="+mn-cs"/>
                        </a:rPr>
                        <a:t> , </a:t>
                      </a:r>
                      <a:r>
                        <a:rPr lang="vi-VN" sz="1800" kern="1200">
                          <a:solidFill>
                            <a:schemeClr val="dk1"/>
                          </a:solidFill>
                          <a:effectLst/>
                          <a:latin typeface="+mn-lt"/>
                          <a:ea typeface="+mn-ea"/>
                          <a:cs typeface="+mn-cs"/>
                        </a:rPr>
                        <a:t>[FR4]</a:t>
                      </a:r>
                    </a:p>
                  </a:txBody>
                  <a:tcPr/>
                </a:tc>
                <a:tc>
                  <a:txBody>
                    <a:bodyPr/>
                    <a:lstStyle/>
                    <a:p>
                      <a:r>
                        <a:rPr lang="en-US"/>
                        <a:t>100%</a:t>
                      </a:r>
                      <a:endParaRPr lang="vi-VN"/>
                    </a:p>
                  </a:txBody>
                  <a:tcPr/>
                </a:tc>
                <a:extLst>
                  <a:ext uri="{0D108BD9-81ED-4DB2-BD59-A6C34878D82A}">
                    <a16:rowId xmlns:a16="http://schemas.microsoft.com/office/drawing/2014/main" val="87793605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32272"/>
            <a:ext cx="9717167" cy="779621"/>
          </a:xfrm>
          <a:prstGeom prst="rect">
            <a:avLst/>
          </a:prstGeom>
          <a:noFill/>
          <a:ln/>
        </p:spPr>
        <p:txBody>
          <a:bodyPr wrap="none" lIns="0" tIns="0" rIns="0" bIns="0" rtlCol="0" anchor="t"/>
          <a:lstStyle/>
          <a:p>
            <a:pPr marL="0" indent="0" algn="l">
              <a:lnSpc>
                <a:spcPts val="6100"/>
              </a:lnSpc>
              <a:buNone/>
            </a:pPr>
            <a:r>
              <a:rPr lang="en-US" sz="4900" b="1" dirty="0">
                <a:solidFill>
                  <a:srgbClr val="F95F88"/>
                </a:solidFill>
                <a:latin typeface="Petrona Bold" pitchFamily="34" charset="0"/>
                <a:ea typeface="Petrona Bold" pitchFamily="34" charset="-122"/>
                <a:cs typeface="Petrona Bold" pitchFamily="34" charset="-120"/>
              </a:rPr>
              <a:t>Các chức năng chính của hệ thống</a:t>
            </a:r>
            <a:endParaRPr lang="en-US" sz="4900" dirty="0"/>
          </a:p>
        </p:txBody>
      </p:sp>
      <p:sp>
        <p:nvSpPr>
          <p:cNvPr id="4" name="Text 1"/>
          <p:cNvSpPr/>
          <p:nvPr/>
        </p:nvSpPr>
        <p:spPr>
          <a:xfrm>
            <a:off x="921703" y="2265521"/>
            <a:ext cx="2394942"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Quản lý đầu vào</a:t>
            </a:r>
            <a:endParaRPr lang="en-US" sz="2450" dirty="0"/>
          </a:p>
        </p:txBody>
      </p:sp>
      <p:sp>
        <p:nvSpPr>
          <p:cNvPr id="5" name="Text 2"/>
          <p:cNvSpPr/>
          <p:nvPr/>
        </p:nvSpPr>
        <p:spPr>
          <a:xfrm>
            <a:off x="921702" y="2791539"/>
            <a:ext cx="3934777" cy="2540472"/>
          </a:xfrm>
          <a:prstGeom prst="rect">
            <a:avLst/>
          </a:prstGeom>
          <a:noFill/>
          <a:ln/>
        </p:spPr>
        <p:txBody>
          <a:bodyPr wrap="square" lIns="0" tIns="0" rIns="0" bIns="0" rtlCol="0" anchor="t"/>
          <a:lstStyle/>
          <a:p>
            <a:pPr marL="342900"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Nhập dữ liệu từ bàn phím thông qua Scanner</a:t>
            </a:r>
          </a:p>
          <a:p>
            <a:pPr marL="342900"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Kiểm tra dữ liệu nhập:</a:t>
            </a:r>
          </a:p>
          <a:p>
            <a:pPr marL="800100" lvl="1"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Đảm bảo số nguyên hợp lệ</a:t>
            </a:r>
          </a:p>
          <a:p>
            <a:pPr marL="800100" lvl="1"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Kiểm tra số nguyên dương</a:t>
            </a:r>
          </a:p>
          <a:p>
            <a:pPr marL="342900"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Xử lý các trường hợp nhập sai (Exception handling)</a:t>
            </a:r>
            <a:endParaRPr lang="en-US" sz="1750" dirty="0"/>
          </a:p>
        </p:txBody>
      </p:sp>
      <p:sp>
        <p:nvSpPr>
          <p:cNvPr id="7" name="Text 3"/>
          <p:cNvSpPr/>
          <p:nvPr/>
        </p:nvSpPr>
        <p:spPr>
          <a:xfrm>
            <a:off x="5668605" y="2265521"/>
            <a:ext cx="2394942"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Xử lý dữ liệu</a:t>
            </a:r>
            <a:endParaRPr lang="en-US" sz="2450" dirty="0"/>
          </a:p>
        </p:txBody>
      </p:sp>
      <p:sp>
        <p:nvSpPr>
          <p:cNvPr id="8" name="Text 4"/>
          <p:cNvSpPr/>
          <p:nvPr/>
        </p:nvSpPr>
        <p:spPr>
          <a:xfrm>
            <a:off x="5242560" y="2791539"/>
            <a:ext cx="4868147" cy="3266321"/>
          </a:xfrm>
          <a:prstGeom prst="rect">
            <a:avLst/>
          </a:prstGeom>
          <a:noFill/>
          <a:ln/>
        </p:spPr>
        <p:txBody>
          <a:bodyPr wrap="square" lIns="0" tIns="0" rIns="0" bIns="0" rtlCol="0" anchor="t"/>
          <a:lstStyle/>
          <a:p>
            <a:pPr marL="342900"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Thực hiện các bài toán thuật toán:</a:t>
            </a:r>
          </a:p>
          <a:p>
            <a:pPr marL="800100" lvl="1"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Two Sum (tìm cặp số có tổng bằng K)</a:t>
            </a:r>
          </a:p>
          <a:p>
            <a:pPr marL="800100" lvl="1"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Move Zeroes (dồn số 0 về cuối mảng)</a:t>
            </a:r>
          </a:p>
          <a:p>
            <a:pPr marL="800100" lvl="1"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Valid Palindrome (Regex + kiểm tra đối xứng)</a:t>
            </a:r>
          </a:p>
          <a:p>
            <a:pPr marL="800100" lvl="1"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Reverse Words (đảo ngược thứ tự các từ)</a:t>
            </a:r>
          </a:p>
          <a:p>
            <a:pPr marL="800100" lvl="1"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Happy Number (phát hiện chu trình)</a:t>
            </a:r>
          </a:p>
          <a:p>
            <a:pPr marL="342900"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Áp dụng vòng lặp, mảng, chuỗi và Regex</a:t>
            </a:r>
            <a:endParaRPr lang="en-US" sz="1750" dirty="0"/>
          </a:p>
        </p:txBody>
      </p:sp>
      <p:sp>
        <p:nvSpPr>
          <p:cNvPr id="10" name="Text 5"/>
          <p:cNvSpPr/>
          <p:nvPr/>
        </p:nvSpPr>
        <p:spPr>
          <a:xfrm>
            <a:off x="10510957" y="2265521"/>
            <a:ext cx="2394942" cy="389930"/>
          </a:xfrm>
          <a:prstGeom prst="rect">
            <a:avLst/>
          </a:prstGeom>
          <a:noFill/>
          <a:ln/>
        </p:spPr>
        <p:txBody>
          <a:bodyPr wrap="none" lIns="0" tIns="0" rIns="0" bIns="0" rtlCol="0" anchor="t"/>
          <a:lstStyle/>
          <a:p>
            <a:pPr marL="0" indent="0" algn="l">
              <a:lnSpc>
                <a:spcPts val="3050"/>
              </a:lnSpc>
              <a:buNone/>
            </a:pPr>
            <a:r>
              <a:rPr lang="en-US" sz="2450" b="1">
                <a:solidFill>
                  <a:srgbClr val="272525"/>
                </a:solidFill>
                <a:latin typeface="Petrona Bold" pitchFamily="34" charset="0"/>
                <a:ea typeface="Petrona Bold" pitchFamily="34" charset="-122"/>
              </a:rPr>
              <a:t>Điều khiển, hiển thị</a:t>
            </a:r>
            <a:endParaRPr lang="en-US" sz="2450" dirty="0"/>
          </a:p>
        </p:txBody>
      </p:sp>
      <p:sp>
        <p:nvSpPr>
          <p:cNvPr id="11" name="Text 6"/>
          <p:cNvSpPr/>
          <p:nvPr/>
        </p:nvSpPr>
        <p:spPr>
          <a:xfrm>
            <a:off x="10510957" y="2791539"/>
            <a:ext cx="4119443" cy="2540472"/>
          </a:xfrm>
          <a:prstGeom prst="rect">
            <a:avLst/>
          </a:prstGeom>
          <a:noFill/>
          <a:ln/>
        </p:spPr>
        <p:txBody>
          <a:bodyPr wrap="square" lIns="0" tIns="0" rIns="0" bIns="0" rtlCol="0" anchor="t"/>
          <a:lstStyle/>
          <a:p>
            <a:pPr marL="342900"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Menu lựa chọn chức năng rõ ràng (1–5, 0 để thoát)</a:t>
            </a:r>
          </a:p>
          <a:p>
            <a:pPr marL="342900"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Phân nhánh xử lý bằng switch–case</a:t>
            </a:r>
          </a:p>
          <a:p>
            <a:pPr marL="342900"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Hiển thị kết quả và thông báo lỗi trực tiếp trên Console</a:t>
            </a:r>
          </a:p>
          <a:p>
            <a:pPr marL="342900" indent="-342900">
              <a:lnSpc>
                <a:spcPts val="2850"/>
              </a:lnSpc>
              <a:buSzPct val="100000"/>
              <a:buChar char="•"/>
            </a:pPr>
            <a:r>
              <a:rPr lang="vi-VN" sz="1750">
                <a:solidFill>
                  <a:srgbClr val="272525"/>
                </a:solidFill>
                <a:latin typeface="Inter" pitchFamily="34" charset="0"/>
                <a:ea typeface="Inter" pitchFamily="34" charset="-122"/>
                <a:cs typeface="Inter" pitchFamily="34" charset="-120"/>
              </a:rPr>
              <a:t>Chương trình quay lại menu sau mỗi chức năng</a:t>
            </a:r>
            <a:endParaRPr lang="en-US" sz="1750" dirty="0"/>
          </a:p>
        </p:txBody>
      </p:sp>
      <p:sp>
        <p:nvSpPr>
          <p:cNvPr id="12" name="Text 7"/>
          <p:cNvSpPr/>
          <p:nvPr/>
        </p:nvSpPr>
        <p:spPr>
          <a:xfrm>
            <a:off x="793790" y="6471523"/>
            <a:ext cx="13042821" cy="725805"/>
          </a:xfrm>
          <a:prstGeom prst="rect">
            <a:avLst/>
          </a:prstGeom>
          <a:noFill/>
          <a:ln/>
        </p:spPr>
        <p:txBody>
          <a:bodyPr wrap="square" lIns="0" tIns="0" rIns="0" bIns="0" rtlCol="0" anchor="t"/>
          <a:lstStyle/>
          <a:p>
            <a:pPr>
              <a:lnSpc>
                <a:spcPts val="2850"/>
              </a:lnSpc>
            </a:pPr>
            <a:r>
              <a:rPr lang="vi-VN"/>
              <a:t>Hệ thống được thiết kế đơn giản, dễ sử dụng và đáp ứng đầy đủ các yêu cầu của mini project theo SRS.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487805" y="485775"/>
            <a:ext cx="6185059" cy="580549"/>
          </a:xfrm>
          <a:prstGeom prst="rect">
            <a:avLst/>
          </a:prstGeom>
          <a:noFill/>
          <a:ln/>
        </p:spPr>
        <p:txBody>
          <a:bodyPr wrap="none" lIns="0" tIns="0" rIns="0" bIns="0" rtlCol="0" anchor="t"/>
          <a:lstStyle/>
          <a:p>
            <a:pPr marL="0" indent="0" algn="l">
              <a:lnSpc>
                <a:spcPts val="4550"/>
              </a:lnSpc>
              <a:buNone/>
            </a:pPr>
            <a:r>
              <a:rPr lang="en-US" sz="3650" b="1" dirty="0">
                <a:solidFill>
                  <a:srgbClr val="F95F88"/>
                </a:solidFill>
                <a:latin typeface="Petrona Bold" pitchFamily="34" charset="0"/>
                <a:ea typeface="Petrona Bold" pitchFamily="34" charset="-122"/>
                <a:cs typeface="Petrona Bold" pitchFamily="34" charset="-120"/>
              </a:rPr>
              <a:t>Kiến thức &amp; Kỹ thuật áp dụng</a:t>
            </a:r>
            <a:endParaRPr lang="en-US" sz="3650" dirty="0"/>
          </a:p>
        </p:txBody>
      </p:sp>
      <p:sp>
        <p:nvSpPr>
          <p:cNvPr id="3" name="Shape 1"/>
          <p:cNvSpPr/>
          <p:nvPr/>
        </p:nvSpPr>
        <p:spPr>
          <a:xfrm>
            <a:off x="1487805" y="1396365"/>
            <a:ext cx="5621298" cy="2196346"/>
          </a:xfrm>
          <a:prstGeom prst="roundRect">
            <a:avLst>
              <a:gd name="adj" fmla="val 3230"/>
            </a:avLst>
          </a:prstGeom>
          <a:solidFill>
            <a:srgbClr val="E0D7F4"/>
          </a:solidFill>
          <a:ln w="7620">
            <a:solidFill>
              <a:srgbClr val="C6BDDA"/>
            </a:solidFill>
            <a:prstDash val="solid"/>
          </a:ln>
        </p:spPr>
        <p:txBody>
          <a:bodyPr/>
          <a:lstStyle/>
          <a:p>
            <a:endParaRPr lang="vi-VN"/>
          </a:p>
        </p:txBody>
      </p:sp>
      <p:sp>
        <p:nvSpPr>
          <p:cNvPr id="4" name="Shape 2"/>
          <p:cNvSpPr/>
          <p:nvPr/>
        </p:nvSpPr>
        <p:spPr>
          <a:xfrm>
            <a:off x="1664256" y="1572816"/>
            <a:ext cx="506611" cy="506611"/>
          </a:xfrm>
          <a:prstGeom prst="roundRect">
            <a:avLst>
              <a:gd name="adj" fmla="val 18047547"/>
            </a:avLst>
          </a:prstGeom>
          <a:solidFill>
            <a:srgbClr val="6237C8"/>
          </a:solidFill>
          <a:ln/>
        </p:spPr>
        <p:txBody>
          <a:bodyPr/>
          <a:lstStyle/>
          <a:p>
            <a:endParaRPr lang="vi-VN"/>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03559" y="1712119"/>
            <a:ext cx="228005" cy="228005"/>
          </a:xfrm>
          <a:prstGeom prst="rect">
            <a:avLst/>
          </a:prstGeom>
        </p:spPr>
      </p:pic>
      <p:sp>
        <p:nvSpPr>
          <p:cNvPr id="6" name="Text 3"/>
          <p:cNvSpPr/>
          <p:nvPr/>
        </p:nvSpPr>
        <p:spPr>
          <a:xfrm>
            <a:off x="1664256" y="2205157"/>
            <a:ext cx="2322433" cy="290274"/>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Petrona Bold" pitchFamily="34" charset="0"/>
                <a:ea typeface="Petrona Bold" pitchFamily="34" charset="-122"/>
                <a:cs typeface="Petrona Bold" pitchFamily="34" charset="-120"/>
              </a:rPr>
              <a:t>Ngôn ngữ &amp; Công cụ</a:t>
            </a:r>
            <a:endParaRPr lang="en-US" sz="1800" dirty="0"/>
          </a:p>
        </p:txBody>
      </p:sp>
      <p:sp>
        <p:nvSpPr>
          <p:cNvPr id="7" name="Text 4"/>
          <p:cNvSpPr/>
          <p:nvPr/>
        </p:nvSpPr>
        <p:spPr>
          <a:xfrm>
            <a:off x="1664256" y="2621161"/>
            <a:ext cx="5268397" cy="707252"/>
          </a:xfrm>
          <a:prstGeom prst="rect">
            <a:avLst/>
          </a:prstGeom>
          <a:noFill/>
          <a:ln/>
        </p:spPr>
        <p:txBody>
          <a:bodyPr wrap="square" lIns="0" tIns="0" rIns="0" bIns="0" rtlCol="0" anchor="t"/>
          <a:lstStyle/>
          <a:p>
            <a:pPr marL="342900" indent="-342900" algn="l">
              <a:lnSpc>
                <a:spcPts val="1850"/>
              </a:lnSpc>
              <a:buSzPct val="100000"/>
              <a:buChar char="•"/>
            </a:pPr>
            <a:r>
              <a:rPr lang="en-US" sz="1300" dirty="0">
                <a:solidFill>
                  <a:srgbClr val="272525"/>
                </a:solidFill>
                <a:latin typeface="Inter" pitchFamily="34" charset="0"/>
                <a:ea typeface="Inter" pitchFamily="34" charset="-122"/>
                <a:cs typeface="Inter" pitchFamily="34" charset="-120"/>
              </a:rPr>
              <a:t>Java JDK 17 (hoặc 21)</a:t>
            </a:r>
            <a:endParaRPr lang="en-US" sz="1300" dirty="0"/>
          </a:p>
          <a:p>
            <a:pPr marL="342900" indent="-342900" algn="l">
              <a:lnSpc>
                <a:spcPts val="1850"/>
              </a:lnSpc>
              <a:buSzPct val="100000"/>
              <a:buChar char="•"/>
            </a:pPr>
            <a:r>
              <a:rPr lang="en-US" sz="1300" dirty="0">
                <a:solidFill>
                  <a:srgbClr val="272525"/>
                </a:solidFill>
                <a:latin typeface="Inter" pitchFamily="34" charset="0"/>
                <a:ea typeface="Inter" pitchFamily="34" charset="-122"/>
                <a:cs typeface="Inter" pitchFamily="34" charset="-120"/>
              </a:rPr>
              <a:t>IntelliJ IDEA</a:t>
            </a:r>
            <a:endParaRPr lang="en-US" sz="1300" dirty="0"/>
          </a:p>
          <a:p>
            <a:pPr marL="342900" indent="-342900" algn="l">
              <a:lnSpc>
                <a:spcPts val="1850"/>
              </a:lnSpc>
              <a:buSzPct val="100000"/>
              <a:buChar char="•"/>
            </a:pPr>
            <a:r>
              <a:rPr lang="en-US" sz="1300" dirty="0">
                <a:solidFill>
                  <a:srgbClr val="272525"/>
                </a:solidFill>
                <a:latin typeface="Inter" pitchFamily="34" charset="0"/>
                <a:ea typeface="Inter" pitchFamily="34" charset="-122"/>
                <a:cs typeface="Inter" pitchFamily="34" charset="-120"/>
              </a:rPr>
              <a:t>Git/GitHub</a:t>
            </a:r>
            <a:endParaRPr lang="en-US" sz="1300" dirty="0"/>
          </a:p>
        </p:txBody>
      </p:sp>
      <p:sp>
        <p:nvSpPr>
          <p:cNvPr id="8" name="Shape 5"/>
          <p:cNvSpPr/>
          <p:nvPr/>
        </p:nvSpPr>
        <p:spPr>
          <a:xfrm>
            <a:off x="1487805" y="3630593"/>
            <a:ext cx="5621298" cy="3026190"/>
          </a:xfrm>
          <a:prstGeom prst="roundRect">
            <a:avLst>
              <a:gd name="adj" fmla="val 2574"/>
            </a:avLst>
          </a:prstGeom>
          <a:solidFill>
            <a:srgbClr val="E0D7F4"/>
          </a:solidFill>
          <a:ln w="7620">
            <a:solidFill>
              <a:srgbClr val="C6BDDA"/>
            </a:solidFill>
            <a:prstDash val="solid"/>
          </a:ln>
        </p:spPr>
        <p:txBody>
          <a:bodyPr/>
          <a:lstStyle/>
          <a:p>
            <a:endParaRPr lang="vi-VN"/>
          </a:p>
        </p:txBody>
      </p:sp>
      <p:sp>
        <p:nvSpPr>
          <p:cNvPr id="9" name="Shape 6"/>
          <p:cNvSpPr/>
          <p:nvPr/>
        </p:nvSpPr>
        <p:spPr>
          <a:xfrm>
            <a:off x="1664256" y="3807044"/>
            <a:ext cx="506611" cy="506611"/>
          </a:xfrm>
          <a:prstGeom prst="roundRect">
            <a:avLst>
              <a:gd name="adj" fmla="val 18047547"/>
            </a:avLst>
          </a:prstGeom>
          <a:solidFill>
            <a:srgbClr val="6237C8"/>
          </a:solidFill>
          <a:ln/>
        </p:spPr>
        <p:txBody>
          <a:bodyPr/>
          <a:lstStyle/>
          <a:p>
            <a:endParaRPr lang="vi-VN"/>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03559" y="3946347"/>
            <a:ext cx="228005" cy="228005"/>
          </a:xfrm>
          <a:prstGeom prst="rect">
            <a:avLst/>
          </a:prstGeom>
        </p:spPr>
      </p:pic>
      <p:sp>
        <p:nvSpPr>
          <p:cNvPr id="11" name="Text 7"/>
          <p:cNvSpPr/>
          <p:nvPr/>
        </p:nvSpPr>
        <p:spPr>
          <a:xfrm>
            <a:off x="1664256" y="4439385"/>
            <a:ext cx="2322433" cy="290274"/>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Petrona Bold" pitchFamily="34" charset="0"/>
                <a:ea typeface="Petrona Bold" pitchFamily="34" charset="-122"/>
                <a:cs typeface="Petrona Bold" pitchFamily="34" charset="-120"/>
              </a:rPr>
              <a:t>Kỹ thuật lập trình</a:t>
            </a:r>
            <a:endParaRPr lang="en-US" sz="1800" dirty="0"/>
          </a:p>
        </p:txBody>
      </p:sp>
      <p:sp>
        <p:nvSpPr>
          <p:cNvPr id="12" name="Text 8"/>
          <p:cNvSpPr/>
          <p:nvPr/>
        </p:nvSpPr>
        <p:spPr>
          <a:xfrm>
            <a:off x="1664256" y="4855388"/>
            <a:ext cx="5268397" cy="1801395"/>
          </a:xfrm>
          <a:prstGeom prst="rect">
            <a:avLst/>
          </a:prstGeom>
          <a:noFill/>
          <a:ln/>
        </p:spPr>
        <p:txBody>
          <a:bodyPr wrap="square" lIns="0" tIns="0" rIns="0" bIns="0" rtlCol="0" anchor="t"/>
          <a:lstStyle/>
          <a:p>
            <a:pPr marL="342900" indent="-342900">
              <a:lnSpc>
                <a:spcPts val="1850"/>
              </a:lnSpc>
              <a:buSzPct val="100000"/>
              <a:buChar char="•"/>
            </a:pPr>
            <a:r>
              <a:rPr lang="en-US" sz="1300">
                <a:solidFill>
                  <a:srgbClr val="272525"/>
                </a:solidFill>
                <a:latin typeface="Inter" pitchFamily="34" charset="0"/>
                <a:ea typeface="Inter" pitchFamily="34" charset="-122"/>
                <a:cs typeface="Inter" pitchFamily="34" charset="-120"/>
              </a:rPr>
              <a:t>Regex: Làm sạch chuỗi, loại bỏ ký tự không hợp lệ</a:t>
            </a:r>
          </a:p>
          <a:p>
            <a:pPr marL="342900" indent="-342900">
              <a:lnSpc>
                <a:spcPts val="1850"/>
              </a:lnSpc>
              <a:buSzPct val="100000"/>
              <a:buChar char="•"/>
            </a:pPr>
            <a:r>
              <a:rPr lang="en-US" sz="1300">
                <a:solidFill>
                  <a:srgbClr val="272525"/>
                </a:solidFill>
                <a:latin typeface="Inter" pitchFamily="34" charset="0"/>
                <a:ea typeface="Inter" pitchFamily="34" charset="-122"/>
                <a:cs typeface="Inter" pitchFamily="34" charset="-120"/>
              </a:rPr>
              <a:t>String Processing: split(), trim(), replaceAll()</a:t>
            </a:r>
          </a:p>
          <a:p>
            <a:pPr marL="342900" indent="-342900">
              <a:lnSpc>
                <a:spcPts val="1850"/>
              </a:lnSpc>
              <a:buSzPct val="100000"/>
              <a:buChar char="•"/>
            </a:pPr>
            <a:r>
              <a:rPr lang="en-US" sz="1300">
                <a:solidFill>
                  <a:srgbClr val="272525"/>
                </a:solidFill>
                <a:latin typeface="Inter" pitchFamily="34" charset="0"/>
                <a:ea typeface="Inter" pitchFamily="34" charset="-122"/>
                <a:cs typeface="Inter" pitchFamily="34" charset="-120"/>
              </a:rPr>
              <a:t>Thuật toán:</a:t>
            </a:r>
          </a:p>
          <a:p>
            <a:pPr marL="342900" indent="-342900">
              <a:lnSpc>
                <a:spcPts val="1850"/>
              </a:lnSpc>
              <a:buSzPct val="100000"/>
              <a:buChar char="•"/>
            </a:pPr>
            <a:r>
              <a:rPr lang="en-US" sz="1300">
                <a:solidFill>
                  <a:srgbClr val="272525"/>
                </a:solidFill>
                <a:latin typeface="Inter" pitchFamily="34" charset="0"/>
                <a:ea typeface="Inter" pitchFamily="34" charset="-122"/>
                <a:cs typeface="Inter" pitchFamily="34" charset="-120"/>
              </a:rPr>
              <a:t>Two Sum (O(n²))</a:t>
            </a:r>
          </a:p>
          <a:p>
            <a:pPr marL="342900" indent="-342900">
              <a:lnSpc>
                <a:spcPts val="1850"/>
              </a:lnSpc>
              <a:buSzPct val="100000"/>
              <a:buChar char="•"/>
            </a:pPr>
            <a:r>
              <a:rPr lang="en-US" sz="1300">
                <a:solidFill>
                  <a:srgbClr val="272525"/>
                </a:solidFill>
                <a:latin typeface="Inter" pitchFamily="34" charset="0"/>
                <a:ea typeface="Inter" pitchFamily="34" charset="-122"/>
                <a:cs typeface="Inter" pitchFamily="34" charset="-120"/>
              </a:rPr>
              <a:t>Two Pointers</a:t>
            </a:r>
          </a:p>
          <a:p>
            <a:pPr marL="342900" indent="-342900">
              <a:lnSpc>
                <a:spcPts val="1850"/>
              </a:lnSpc>
              <a:buSzPct val="100000"/>
              <a:buChar char="•"/>
            </a:pPr>
            <a:r>
              <a:rPr lang="en-US" sz="1300">
                <a:solidFill>
                  <a:srgbClr val="272525"/>
                </a:solidFill>
                <a:latin typeface="Inter" pitchFamily="34" charset="0"/>
                <a:ea typeface="Inter" pitchFamily="34" charset="-122"/>
                <a:cs typeface="Inter" pitchFamily="34" charset="-120"/>
              </a:rPr>
              <a:t>Phát hiện chu trình bằng HashSet</a:t>
            </a:r>
          </a:p>
          <a:p>
            <a:pPr marL="342900" indent="-342900">
              <a:lnSpc>
                <a:spcPts val="1850"/>
              </a:lnSpc>
              <a:buSzPct val="100000"/>
              <a:buChar char="•"/>
            </a:pPr>
            <a:r>
              <a:rPr lang="en-US" sz="1300">
                <a:solidFill>
                  <a:srgbClr val="272525"/>
                </a:solidFill>
                <a:latin typeface="Inter" pitchFamily="34" charset="0"/>
                <a:ea typeface="Inter" pitchFamily="34" charset="-122"/>
                <a:cs typeface="Inter" pitchFamily="34" charset="-120"/>
              </a:rPr>
              <a:t>Xử lý lỗi nhập liệu (Exception Handling)</a:t>
            </a:r>
            <a:endParaRPr lang="en-US" sz="1300" dirty="0"/>
          </a:p>
        </p:txBody>
      </p:sp>
      <p:pic>
        <p:nvPicPr>
          <p:cNvPr id="13" name="Image 2" descr="preencoded.png"/>
          <p:cNvPicPr>
            <a:picLocks noChangeAspect="1"/>
          </p:cNvPicPr>
          <p:nvPr/>
        </p:nvPicPr>
        <p:blipFill>
          <a:blip r:embed="rId7"/>
          <a:stretch>
            <a:fillRect/>
          </a:stretch>
        </p:blipFill>
        <p:spPr>
          <a:xfrm>
            <a:off x="7528679" y="1396365"/>
            <a:ext cx="5621298" cy="56212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719387" y="508040"/>
            <a:ext cx="6774656" cy="457914"/>
          </a:xfrm>
          <a:prstGeom prst="rect">
            <a:avLst/>
          </a:prstGeom>
          <a:noFill/>
          <a:ln/>
        </p:spPr>
        <p:txBody>
          <a:bodyPr wrap="none" lIns="0" tIns="0" rIns="0" bIns="0" rtlCol="0" anchor="t"/>
          <a:lstStyle/>
          <a:p>
            <a:pPr marL="0" indent="0" algn="l">
              <a:lnSpc>
                <a:spcPts val="3600"/>
              </a:lnSpc>
              <a:buNone/>
            </a:pPr>
            <a:r>
              <a:rPr lang="en-US" sz="2850" b="1" dirty="0">
                <a:solidFill>
                  <a:srgbClr val="F95F88"/>
                </a:solidFill>
                <a:latin typeface="Petrona Bold" pitchFamily="34" charset="0"/>
                <a:ea typeface="Petrona Bold" pitchFamily="34" charset="-122"/>
                <a:cs typeface="Petrona Bold" pitchFamily="34" charset="-120"/>
              </a:rPr>
              <a:t>Demo Code tâm đắc nhất: Chuẩn hóa tên</a:t>
            </a:r>
            <a:endParaRPr lang="en-US" sz="2850" dirty="0"/>
          </a:p>
        </p:txBody>
      </p:sp>
      <p:sp>
        <p:nvSpPr>
          <p:cNvPr id="3" name="Text 1"/>
          <p:cNvSpPr/>
          <p:nvPr/>
        </p:nvSpPr>
        <p:spPr>
          <a:xfrm>
            <a:off x="2719387" y="1161455"/>
            <a:ext cx="2197894" cy="274677"/>
          </a:xfrm>
          <a:prstGeom prst="rect">
            <a:avLst/>
          </a:prstGeom>
          <a:noFill/>
          <a:ln/>
        </p:spPr>
        <p:txBody>
          <a:bodyPr wrap="none" lIns="0" tIns="0" rIns="0" bIns="0" rtlCol="0" anchor="t"/>
          <a:lstStyle/>
          <a:p>
            <a:pPr marL="0" indent="0" algn="l">
              <a:lnSpc>
                <a:spcPts val="2150"/>
              </a:lnSpc>
              <a:buNone/>
            </a:pPr>
            <a:r>
              <a:rPr lang="en-US" sz="1700" b="1" dirty="0">
                <a:solidFill>
                  <a:srgbClr val="F95F88"/>
                </a:solidFill>
                <a:latin typeface="Petrona Bold" pitchFamily="34" charset="0"/>
                <a:ea typeface="Petrona Bold" pitchFamily="34" charset="-122"/>
                <a:cs typeface="Petrona Bold" pitchFamily="34" charset="-120"/>
              </a:rPr>
              <a:t>Vấn đề</a:t>
            </a:r>
            <a:endParaRPr lang="en-US" sz="1700" dirty="0"/>
          </a:p>
        </p:txBody>
      </p:sp>
      <p:sp>
        <p:nvSpPr>
          <p:cNvPr id="4" name="Text 2"/>
          <p:cNvSpPr/>
          <p:nvPr/>
        </p:nvSpPr>
        <p:spPr>
          <a:xfrm>
            <a:off x="2719387" y="1514356"/>
            <a:ext cx="4433292" cy="3829804"/>
          </a:xfrm>
          <a:prstGeom prst="rect">
            <a:avLst/>
          </a:prstGeom>
          <a:noFill/>
          <a:ln/>
        </p:spPr>
        <p:txBody>
          <a:bodyPr wrap="square" lIns="0" tIns="0" rIns="0" bIns="0" rtlCol="0" anchor="t"/>
          <a:lstStyle/>
          <a:p>
            <a:pPr>
              <a:lnSpc>
                <a:spcPts val="1300"/>
              </a:lnSpc>
            </a:pPr>
            <a:endParaRPr lang="vi-VN" sz="1000">
              <a:solidFill>
                <a:srgbClr val="272525"/>
              </a:solidFill>
              <a:latin typeface="Inter" pitchFamily="34" charset="0"/>
              <a:ea typeface="Inter" pitchFamily="34" charset="-122"/>
              <a:cs typeface="Inter" pitchFamily="34" charset="-120"/>
            </a:endParaRPr>
          </a:p>
          <a:p>
            <a:pPr marL="171450" indent="-171450">
              <a:lnSpc>
                <a:spcPct val="20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Người dùng thường nhập chuỗi có:</a:t>
            </a:r>
          </a:p>
          <a:p>
            <a:pPr marL="171450" indent="-171450">
              <a:lnSpc>
                <a:spcPct val="20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Nhiều khoảng trắng thừa</a:t>
            </a:r>
          </a:p>
          <a:p>
            <a:pPr marL="171450" indent="-171450">
              <a:lnSpc>
                <a:spcPct val="20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Ký tự đặc biệt, dấu câu</a:t>
            </a:r>
          </a:p>
          <a:p>
            <a:pPr marL="171450" indent="-171450">
              <a:lnSpc>
                <a:spcPct val="20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Chữ hoa và chữ thường lẫn lộn</a:t>
            </a:r>
          </a:p>
          <a:p>
            <a:pPr marL="171450" indent="-171450">
              <a:lnSpc>
                <a:spcPct val="20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Điều này gây khó khăn khi:</a:t>
            </a:r>
          </a:p>
          <a:p>
            <a:pPr marL="171450" indent="-171450">
              <a:lnSpc>
                <a:spcPct val="20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Kiểm tra chuỗi đối xứng</a:t>
            </a:r>
          </a:p>
          <a:p>
            <a:pPr marL="171450" indent="-171450">
              <a:lnSpc>
                <a:spcPct val="20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Xử lý và đảo ngược các từ trong câu</a:t>
            </a:r>
            <a:endParaRPr lang="en-US" sz="1600" dirty="0"/>
          </a:p>
        </p:txBody>
      </p:sp>
      <p:sp>
        <p:nvSpPr>
          <p:cNvPr id="6" name="Text 3"/>
          <p:cNvSpPr/>
          <p:nvPr/>
        </p:nvSpPr>
        <p:spPr>
          <a:xfrm>
            <a:off x="7485102" y="1161455"/>
            <a:ext cx="2197894" cy="274677"/>
          </a:xfrm>
          <a:prstGeom prst="rect">
            <a:avLst/>
          </a:prstGeom>
          <a:noFill/>
          <a:ln/>
        </p:spPr>
        <p:txBody>
          <a:bodyPr wrap="none" lIns="0" tIns="0" rIns="0" bIns="0" rtlCol="0" anchor="t"/>
          <a:lstStyle/>
          <a:p>
            <a:pPr marL="0" indent="0" algn="l">
              <a:lnSpc>
                <a:spcPts val="2150"/>
              </a:lnSpc>
              <a:buNone/>
            </a:pPr>
            <a:r>
              <a:rPr lang="en-US" sz="1700" b="1" dirty="0">
                <a:solidFill>
                  <a:srgbClr val="F95F88"/>
                </a:solidFill>
                <a:latin typeface="Petrona Bold" pitchFamily="34" charset="0"/>
                <a:ea typeface="Petrona Bold" pitchFamily="34" charset="-122"/>
                <a:cs typeface="Petrona Bold" pitchFamily="34" charset="-120"/>
              </a:rPr>
              <a:t>Giải pháp</a:t>
            </a:r>
            <a:endParaRPr lang="en-US" sz="1700" dirty="0"/>
          </a:p>
        </p:txBody>
      </p:sp>
      <p:sp>
        <p:nvSpPr>
          <p:cNvPr id="7" name="Text 4"/>
          <p:cNvSpPr/>
          <p:nvPr/>
        </p:nvSpPr>
        <p:spPr>
          <a:xfrm>
            <a:off x="7485102" y="1514356"/>
            <a:ext cx="4433292" cy="4774684"/>
          </a:xfrm>
          <a:prstGeom prst="rect">
            <a:avLst/>
          </a:prstGeom>
          <a:noFill/>
          <a:ln/>
        </p:spPr>
        <p:txBody>
          <a:bodyPr wrap="square" lIns="0" tIns="0" rIns="0" bIns="0" rtlCol="0" anchor="t"/>
          <a:lstStyle/>
          <a:p>
            <a:pPr marL="285750" indent="-285750">
              <a:lnSpc>
                <a:spcPct val="15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Sử dụng Regex để:</a:t>
            </a:r>
          </a:p>
          <a:p>
            <a:pPr marL="742950" lvl="1" indent="-285750">
              <a:lnSpc>
                <a:spcPct val="15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Loại bỏ ký tự không hợp lệ</a:t>
            </a:r>
          </a:p>
          <a:p>
            <a:pPr marL="742950" lvl="1" indent="-285750">
              <a:lnSpc>
                <a:spcPct val="15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Gom nhiều khoảng trắng về một</a:t>
            </a:r>
          </a:p>
          <a:p>
            <a:pPr marL="285750" indent="-285750">
              <a:lnSpc>
                <a:spcPct val="15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Chuẩn hóa chuỗi bằng:</a:t>
            </a:r>
          </a:p>
          <a:p>
            <a:pPr marL="742950" lvl="1" indent="-285750">
              <a:lnSpc>
                <a:spcPct val="15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toLowerCase()</a:t>
            </a:r>
          </a:p>
          <a:p>
            <a:pPr marL="742950" lvl="1" indent="-285750">
              <a:lnSpc>
                <a:spcPct val="15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trim(), replaceAll()</a:t>
            </a:r>
          </a:p>
          <a:p>
            <a:pPr marL="285750" indent="-285750">
              <a:lnSpc>
                <a:spcPct val="15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Áp dụng Two Pointers để:</a:t>
            </a:r>
          </a:p>
          <a:p>
            <a:pPr marL="742950" lvl="1" indent="-285750">
              <a:lnSpc>
                <a:spcPct val="15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Kiểm tra chuỗi đối xứng</a:t>
            </a:r>
          </a:p>
          <a:p>
            <a:pPr marL="742950" lvl="1" indent="-285750">
              <a:lnSpc>
                <a:spcPct val="150000"/>
              </a:lnSpc>
              <a:buFont typeface="Arial" panose="020B0604020202020204" pitchFamily="34" charset="0"/>
              <a:buChar char="•"/>
            </a:pPr>
            <a:r>
              <a:rPr lang="vi-VN" sz="1600">
                <a:solidFill>
                  <a:srgbClr val="272525"/>
                </a:solidFill>
                <a:latin typeface="Inter" pitchFamily="34" charset="0"/>
                <a:ea typeface="Inter" pitchFamily="34" charset="-122"/>
                <a:cs typeface="Inter" pitchFamily="34" charset="-120"/>
              </a:rPr>
              <a:t>Đảo ngược thứ tự các từ một cách hiệu quả</a:t>
            </a:r>
          </a:p>
          <a:p>
            <a:pPr marL="285750" indent="-285750">
              <a:lnSpc>
                <a:spcPct val="150000"/>
              </a:lnSpc>
              <a:buFont typeface="Wingdings" panose="05000000000000000000" pitchFamily="2" charset="2"/>
              <a:buChar char="Ø"/>
            </a:pPr>
            <a:r>
              <a:rPr lang="vi-VN" sz="1600">
                <a:solidFill>
                  <a:srgbClr val="272525"/>
                </a:solidFill>
                <a:latin typeface="Inter" pitchFamily="34" charset="0"/>
                <a:ea typeface="Inter" pitchFamily="34" charset="-122"/>
                <a:cs typeface="Inter" pitchFamily="34" charset="-120"/>
              </a:rPr>
              <a:t>Cách làm này giúp chương trình xử lý dữ liệu đầu vào linh hoạt và chính xác hơn.</a:t>
            </a:r>
            <a:endParaRPr lang="en-US" sz="1600" dirty="0"/>
          </a:p>
        </p:txBody>
      </p:sp>
      <p:pic>
        <p:nvPicPr>
          <p:cNvPr id="11" name="Image 2" descr="preencoded.png"/>
          <p:cNvPicPr>
            <a:picLocks noChangeAspect="1"/>
          </p:cNvPicPr>
          <p:nvPr/>
        </p:nvPicPr>
        <p:blipFill>
          <a:blip r:embed="rId3"/>
          <a:stretch>
            <a:fillRect/>
          </a:stretch>
        </p:blipFill>
        <p:spPr>
          <a:xfrm>
            <a:off x="2852499" y="7306628"/>
            <a:ext cx="166449" cy="1331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70334" y="642223"/>
            <a:ext cx="7897178" cy="756642"/>
          </a:xfrm>
          <a:prstGeom prst="rect">
            <a:avLst/>
          </a:prstGeom>
          <a:noFill/>
          <a:ln/>
        </p:spPr>
        <p:txBody>
          <a:bodyPr wrap="none" lIns="0" tIns="0" rIns="0" bIns="0" rtlCol="0" anchor="t"/>
          <a:lstStyle/>
          <a:p>
            <a:pPr marL="0" indent="0" algn="l">
              <a:lnSpc>
                <a:spcPts val="5950"/>
              </a:lnSpc>
              <a:buNone/>
            </a:pPr>
            <a:r>
              <a:rPr lang="en-US" sz="4750" b="1" dirty="0">
                <a:solidFill>
                  <a:srgbClr val="F95F88"/>
                </a:solidFill>
                <a:latin typeface="Petrona Bold" pitchFamily="34" charset="0"/>
                <a:ea typeface="Petrona Bold" pitchFamily="34" charset="-122"/>
                <a:cs typeface="Petrona Bold" pitchFamily="34" charset="-120"/>
              </a:rPr>
              <a:t>Demo Ứng dụng (Live Demo)</a:t>
            </a:r>
            <a:endParaRPr lang="en-US" sz="4750" dirty="0"/>
          </a:p>
        </p:txBody>
      </p:sp>
      <p:sp>
        <p:nvSpPr>
          <p:cNvPr id="3" name="Text 1"/>
          <p:cNvSpPr/>
          <p:nvPr/>
        </p:nvSpPr>
        <p:spPr>
          <a:xfrm>
            <a:off x="770334" y="1825943"/>
            <a:ext cx="13089731" cy="693896"/>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Chúng tôi sẽ trình diễn trực tiếp hoạt động của ứng dụng trên màn hình Console của IntelliJ IDEA để quý thầy cô và các bạn tiện theo dõi.</a:t>
            </a:r>
            <a:endParaRPr lang="en-US" sz="1700" dirty="0"/>
          </a:p>
        </p:txBody>
      </p:sp>
      <p:sp>
        <p:nvSpPr>
          <p:cNvPr id="4" name="Text 2"/>
          <p:cNvSpPr/>
          <p:nvPr/>
        </p:nvSpPr>
        <p:spPr>
          <a:xfrm>
            <a:off x="770334" y="2840117"/>
            <a:ext cx="3778568" cy="453866"/>
          </a:xfrm>
          <a:prstGeom prst="rect">
            <a:avLst/>
          </a:prstGeom>
          <a:noFill/>
          <a:ln/>
        </p:spPr>
        <p:txBody>
          <a:bodyPr wrap="none" lIns="0" tIns="0" rIns="0" bIns="0" rtlCol="0" anchor="t"/>
          <a:lstStyle/>
          <a:p>
            <a:pPr marL="0" indent="0" algn="l">
              <a:lnSpc>
                <a:spcPts val="3550"/>
              </a:lnSpc>
              <a:buNone/>
            </a:pPr>
            <a:r>
              <a:rPr lang="en-US" sz="2850" b="1" dirty="0">
                <a:solidFill>
                  <a:srgbClr val="F95F88"/>
                </a:solidFill>
                <a:latin typeface="Petrona Bold" pitchFamily="34" charset="0"/>
                <a:ea typeface="Petrona Bold" pitchFamily="34" charset="-122"/>
                <a:cs typeface="Petrona Bold" pitchFamily="34" charset="-120"/>
              </a:rPr>
              <a:t>Kịch bản Demo chi tiết</a:t>
            </a:r>
            <a:endParaRPr lang="en-US" sz="2850" dirty="0"/>
          </a:p>
        </p:txBody>
      </p:sp>
      <p:sp>
        <p:nvSpPr>
          <p:cNvPr id="5" name="Text 3"/>
          <p:cNvSpPr/>
          <p:nvPr/>
        </p:nvSpPr>
        <p:spPr>
          <a:xfrm>
            <a:off x="770334" y="3614261"/>
            <a:ext cx="220028" cy="275034"/>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Petrona Light" pitchFamily="34" charset="0"/>
                <a:ea typeface="Petrona Light" pitchFamily="34" charset="-122"/>
                <a:cs typeface="Petrona Light" pitchFamily="34" charset="-120"/>
              </a:rPr>
              <a:t>01</a:t>
            </a:r>
            <a:endParaRPr lang="en-US" sz="1700" dirty="0"/>
          </a:p>
        </p:txBody>
      </p:sp>
      <p:sp>
        <p:nvSpPr>
          <p:cNvPr id="6" name="Shape 4"/>
          <p:cNvSpPr/>
          <p:nvPr/>
        </p:nvSpPr>
        <p:spPr>
          <a:xfrm>
            <a:off x="770334" y="3957757"/>
            <a:ext cx="4220885" cy="30480"/>
          </a:xfrm>
          <a:prstGeom prst="rect">
            <a:avLst/>
          </a:prstGeom>
          <a:solidFill>
            <a:srgbClr val="6237C8"/>
          </a:solidFill>
          <a:ln/>
        </p:spPr>
        <p:txBody>
          <a:bodyPr/>
          <a:lstStyle/>
          <a:p>
            <a:endParaRPr lang="vi-VN"/>
          </a:p>
        </p:txBody>
      </p:sp>
      <p:sp>
        <p:nvSpPr>
          <p:cNvPr id="7" name="Text 5"/>
          <p:cNvSpPr/>
          <p:nvPr/>
        </p:nvSpPr>
        <p:spPr>
          <a:xfrm>
            <a:off x="770334" y="4128730"/>
            <a:ext cx="3246001" cy="378262"/>
          </a:xfrm>
          <a:prstGeom prst="rect">
            <a:avLst/>
          </a:prstGeom>
          <a:noFill/>
          <a:ln/>
        </p:spPr>
        <p:txBody>
          <a:bodyPr wrap="none" lIns="0" tIns="0" rIns="0" bIns="0" rtlCol="0" anchor="t"/>
          <a:lstStyle/>
          <a:p>
            <a:pPr marL="0" indent="0" algn="l">
              <a:lnSpc>
                <a:spcPts val="2950"/>
              </a:lnSpc>
              <a:buNone/>
            </a:pPr>
            <a:r>
              <a:rPr lang="en-US" sz="2350" b="1" dirty="0">
                <a:solidFill>
                  <a:srgbClr val="272525"/>
                </a:solidFill>
                <a:latin typeface="Petrona Bold" pitchFamily="34" charset="0"/>
                <a:ea typeface="Petrona Bold" pitchFamily="34" charset="-122"/>
                <a:cs typeface="Petrona Bold" pitchFamily="34" charset="-120"/>
              </a:rPr>
              <a:t>Khởi chạy chương trình</a:t>
            </a:r>
            <a:endParaRPr lang="en-US" sz="2350" dirty="0"/>
          </a:p>
        </p:txBody>
      </p:sp>
      <p:sp>
        <p:nvSpPr>
          <p:cNvPr id="8" name="Text 6"/>
          <p:cNvSpPr/>
          <p:nvPr/>
        </p:nvSpPr>
        <p:spPr>
          <a:xfrm>
            <a:off x="770334" y="4635103"/>
            <a:ext cx="4220885" cy="693896"/>
          </a:xfrm>
          <a:prstGeom prst="rect">
            <a:avLst/>
          </a:prstGeom>
          <a:noFill/>
          <a:ln/>
        </p:spPr>
        <p:txBody>
          <a:bodyPr wrap="square" lIns="0" tIns="0" rIns="0" bIns="0" rtlCol="0" anchor="t"/>
          <a:lstStyle/>
          <a:p>
            <a:pPr>
              <a:lnSpc>
                <a:spcPts val="2700"/>
              </a:lnSpc>
            </a:pPr>
            <a:r>
              <a:rPr lang="en-US" sz="1700">
                <a:solidFill>
                  <a:srgbClr val="272525"/>
                </a:solidFill>
                <a:latin typeface="Inter" pitchFamily="34" charset="0"/>
                <a:ea typeface="Inter" pitchFamily="34" charset="-122"/>
                <a:cs typeface="Inter" pitchFamily="34" charset="-120"/>
              </a:rPr>
              <a:t>Hiển thị menu chính với các chức năng FR1–FR5.</a:t>
            </a:r>
            <a:endParaRPr lang="en-US" sz="1700" dirty="0"/>
          </a:p>
        </p:txBody>
      </p:sp>
      <p:sp>
        <p:nvSpPr>
          <p:cNvPr id="9" name="Text 7"/>
          <p:cNvSpPr/>
          <p:nvPr/>
        </p:nvSpPr>
        <p:spPr>
          <a:xfrm>
            <a:off x="5204698" y="3614261"/>
            <a:ext cx="220028" cy="275034"/>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Petrona Light" pitchFamily="34" charset="0"/>
                <a:ea typeface="Petrona Light" pitchFamily="34" charset="-122"/>
                <a:cs typeface="Petrona Light" pitchFamily="34" charset="-120"/>
              </a:rPr>
              <a:t>02</a:t>
            </a:r>
            <a:endParaRPr lang="en-US" sz="1700" dirty="0"/>
          </a:p>
        </p:txBody>
      </p:sp>
      <p:sp>
        <p:nvSpPr>
          <p:cNvPr id="10" name="Shape 8"/>
          <p:cNvSpPr/>
          <p:nvPr/>
        </p:nvSpPr>
        <p:spPr>
          <a:xfrm>
            <a:off x="5204698" y="3957757"/>
            <a:ext cx="4220885" cy="30480"/>
          </a:xfrm>
          <a:prstGeom prst="rect">
            <a:avLst/>
          </a:prstGeom>
          <a:solidFill>
            <a:srgbClr val="6237C8"/>
          </a:solidFill>
          <a:ln/>
        </p:spPr>
        <p:txBody>
          <a:bodyPr/>
          <a:lstStyle/>
          <a:p>
            <a:endParaRPr lang="vi-VN"/>
          </a:p>
        </p:txBody>
      </p:sp>
      <p:sp>
        <p:nvSpPr>
          <p:cNvPr id="11" name="Text 9"/>
          <p:cNvSpPr/>
          <p:nvPr/>
        </p:nvSpPr>
        <p:spPr>
          <a:xfrm>
            <a:off x="5204698" y="4128730"/>
            <a:ext cx="3438049" cy="378262"/>
          </a:xfrm>
          <a:prstGeom prst="rect">
            <a:avLst/>
          </a:prstGeom>
          <a:noFill/>
          <a:ln/>
        </p:spPr>
        <p:txBody>
          <a:bodyPr wrap="none" lIns="0" tIns="0" rIns="0" bIns="0" rtlCol="0" anchor="t"/>
          <a:lstStyle/>
          <a:p>
            <a:pPr marL="0" indent="0" algn="l">
              <a:lnSpc>
                <a:spcPts val="2950"/>
              </a:lnSpc>
              <a:buNone/>
            </a:pPr>
            <a:r>
              <a:rPr lang="en-US" sz="2350" b="1" dirty="0">
                <a:solidFill>
                  <a:srgbClr val="272525"/>
                </a:solidFill>
                <a:latin typeface="Petrona Bold" pitchFamily="34" charset="0"/>
                <a:ea typeface="Petrona Bold" pitchFamily="34" charset="-122"/>
                <a:cs typeface="Petrona Bold" pitchFamily="34" charset="-120"/>
              </a:rPr>
              <a:t>Kiểm tra Validate dữ liệu</a:t>
            </a:r>
            <a:endParaRPr lang="en-US" sz="2350" dirty="0"/>
          </a:p>
        </p:txBody>
      </p:sp>
      <p:sp>
        <p:nvSpPr>
          <p:cNvPr id="12" name="Text 10"/>
          <p:cNvSpPr/>
          <p:nvPr/>
        </p:nvSpPr>
        <p:spPr>
          <a:xfrm>
            <a:off x="5204698" y="4635103"/>
            <a:ext cx="4220885" cy="693896"/>
          </a:xfrm>
          <a:prstGeom prst="rect">
            <a:avLst/>
          </a:prstGeom>
          <a:noFill/>
          <a:ln/>
        </p:spPr>
        <p:txBody>
          <a:bodyPr wrap="square" lIns="0" tIns="0" rIns="0" bIns="0" rtlCol="0" anchor="t"/>
          <a:lstStyle/>
          <a:p>
            <a:pPr>
              <a:lnSpc>
                <a:spcPts val="2700"/>
              </a:lnSpc>
            </a:pPr>
            <a:r>
              <a:rPr lang="en-US" sz="1700">
                <a:solidFill>
                  <a:srgbClr val="272525"/>
                </a:solidFill>
                <a:latin typeface="Inter" pitchFamily="34" charset="0"/>
                <a:ea typeface="Inter" pitchFamily="34" charset="-122"/>
                <a:cs typeface="Inter" pitchFamily="34" charset="-120"/>
              </a:rPr>
              <a:t>Thử nhập dữ liệu sai để minh họa xử lý lỗi và validate.</a:t>
            </a:r>
            <a:endParaRPr lang="en-US" sz="1700" dirty="0"/>
          </a:p>
        </p:txBody>
      </p:sp>
      <p:sp>
        <p:nvSpPr>
          <p:cNvPr id="13" name="Text 11"/>
          <p:cNvSpPr/>
          <p:nvPr/>
        </p:nvSpPr>
        <p:spPr>
          <a:xfrm>
            <a:off x="9639062" y="3614261"/>
            <a:ext cx="220028" cy="275034"/>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Petrona Light" pitchFamily="34" charset="0"/>
                <a:ea typeface="Petrona Light" pitchFamily="34" charset="-122"/>
                <a:cs typeface="Petrona Light" pitchFamily="34" charset="-120"/>
              </a:rPr>
              <a:t>03</a:t>
            </a:r>
            <a:endParaRPr lang="en-US" sz="1700" dirty="0"/>
          </a:p>
        </p:txBody>
      </p:sp>
      <p:sp>
        <p:nvSpPr>
          <p:cNvPr id="14" name="Shape 12"/>
          <p:cNvSpPr/>
          <p:nvPr/>
        </p:nvSpPr>
        <p:spPr>
          <a:xfrm>
            <a:off x="9639062" y="3957757"/>
            <a:ext cx="4220885" cy="30480"/>
          </a:xfrm>
          <a:prstGeom prst="rect">
            <a:avLst/>
          </a:prstGeom>
          <a:solidFill>
            <a:srgbClr val="6237C8"/>
          </a:solidFill>
          <a:ln/>
        </p:spPr>
        <p:txBody>
          <a:bodyPr/>
          <a:lstStyle/>
          <a:p>
            <a:endParaRPr lang="vi-VN"/>
          </a:p>
        </p:txBody>
      </p:sp>
      <p:sp>
        <p:nvSpPr>
          <p:cNvPr id="15" name="Text 13"/>
          <p:cNvSpPr/>
          <p:nvPr/>
        </p:nvSpPr>
        <p:spPr>
          <a:xfrm>
            <a:off x="9639062" y="4128730"/>
            <a:ext cx="3026331" cy="378262"/>
          </a:xfrm>
          <a:prstGeom prst="rect">
            <a:avLst/>
          </a:prstGeom>
          <a:noFill/>
          <a:ln/>
        </p:spPr>
        <p:txBody>
          <a:bodyPr wrap="none" lIns="0" tIns="0" rIns="0" bIns="0" rtlCol="0" anchor="t"/>
          <a:lstStyle/>
          <a:p>
            <a:pPr marL="0" indent="0" algn="l">
              <a:lnSpc>
                <a:spcPts val="2950"/>
              </a:lnSpc>
              <a:buNone/>
            </a:pPr>
            <a:r>
              <a:rPr lang="en-US" sz="2350" b="1">
                <a:solidFill>
                  <a:srgbClr val="272525"/>
                </a:solidFill>
                <a:latin typeface="Petrona Bold" pitchFamily="34" charset="0"/>
                <a:ea typeface="Petrona Bold" pitchFamily="34" charset="-122"/>
                <a:cs typeface="Petrona Bold" pitchFamily="34" charset="-120"/>
              </a:rPr>
              <a:t>Demo chức năng</a:t>
            </a:r>
            <a:endParaRPr lang="en-US" sz="2350" dirty="0"/>
          </a:p>
        </p:txBody>
      </p:sp>
      <p:sp>
        <p:nvSpPr>
          <p:cNvPr id="16" name="Text 14"/>
          <p:cNvSpPr/>
          <p:nvPr/>
        </p:nvSpPr>
        <p:spPr>
          <a:xfrm>
            <a:off x="9639062" y="4635103"/>
            <a:ext cx="4220885" cy="693896"/>
          </a:xfrm>
          <a:prstGeom prst="rect">
            <a:avLst/>
          </a:prstGeom>
          <a:noFill/>
          <a:ln/>
        </p:spPr>
        <p:txBody>
          <a:bodyPr wrap="square" lIns="0" tIns="0" rIns="0" bIns="0" rtlCol="0" anchor="t"/>
          <a:lstStyle/>
          <a:p>
            <a:pPr>
              <a:lnSpc>
                <a:spcPts val="2700"/>
              </a:lnSpc>
            </a:pPr>
            <a:r>
              <a:rPr lang="vi-VN" sz="1600"/>
              <a:t>Chạy nhanh một số chức năng tiêu biểu (Two Sum, Palindrome).</a:t>
            </a:r>
            <a:endParaRPr lang="en-US" sz="1700" dirty="0"/>
          </a:p>
        </p:txBody>
      </p:sp>
      <p:sp>
        <p:nvSpPr>
          <p:cNvPr id="21" name="Text 19"/>
          <p:cNvSpPr/>
          <p:nvPr/>
        </p:nvSpPr>
        <p:spPr>
          <a:xfrm>
            <a:off x="770334" y="5771085"/>
            <a:ext cx="220028" cy="275034"/>
          </a:xfrm>
          <a:prstGeom prst="rect">
            <a:avLst/>
          </a:prstGeom>
          <a:noFill/>
          <a:ln/>
        </p:spPr>
        <p:txBody>
          <a:bodyPr wrap="none" lIns="0" tIns="0" rIns="0" bIns="0" rtlCol="0" anchor="t"/>
          <a:lstStyle/>
          <a:p>
            <a:pPr marL="0" indent="0" algn="l">
              <a:lnSpc>
                <a:spcPts val="2700"/>
              </a:lnSpc>
              <a:buNone/>
            </a:pPr>
            <a:r>
              <a:rPr lang="en-US" sz="1700">
                <a:solidFill>
                  <a:srgbClr val="272525"/>
                </a:solidFill>
                <a:latin typeface="Petrona Light" pitchFamily="34" charset="0"/>
                <a:ea typeface="Petrona Light" pitchFamily="34" charset="-122"/>
                <a:cs typeface="Petrona Light" pitchFamily="34" charset="-120"/>
              </a:rPr>
              <a:t>04</a:t>
            </a:r>
            <a:endParaRPr lang="en-US" sz="1700" dirty="0"/>
          </a:p>
        </p:txBody>
      </p:sp>
      <p:sp>
        <p:nvSpPr>
          <p:cNvPr id="22" name="Shape 20"/>
          <p:cNvSpPr/>
          <p:nvPr/>
        </p:nvSpPr>
        <p:spPr>
          <a:xfrm>
            <a:off x="770334" y="6114580"/>
            <a:ext cx="6438067" cy="30480"/>
          </a:xfrm>
          <a:prstGeom prst="rect">
            <a:avLst/>
          </a:prstGeom>
          <a:solidFill>
            <a:srgbClr val="6237C8"/>
          </a:solidFill>
          <a:ln/>
        </p:spPr>
        <p:txBody>
          <a:bodyPr/>
          <a:lstStyle/>
          <a:p>
            <a:endParaRPr lang="vi-VN"/>
          </a:p>
        </p:txBody>
      </p:sp>
      <p:sp>
        <p:nvSpPr>
          <p:cNvPr id="23" name="Text 21"/>
          <p:cNvSpPr/>
          <p:nvPr/>
        </p:nvSpPr>
        <p:spPr>
          <a:xfrm>
            <a:off x="770334" y="6285554"/>
            <a:ext cx="3026331" cy="378262"/>
          </a:xfrm>
          <a:prstGeom prst="rect">
            <a:avLst/>
          </a:prstGeom>
          <a:noFill/>
          <a:ln/>
        </p:spPr>
        <p:txBody>
          <a:bodyPr wrap="none" lIns="0" tIns="0" rIns="0" bIns="0" rtlCol="0" anchor="t"/>
          <a:lstStyle/>
          <a:p>
            <a:pPr marL="0" indent="0" algn="l">
              <a:lnSpc>
                <a:spcPts val="2950"/>
              </a:lnSpc>
              <a:buNone/>
            </a:pPr>
            <a:r>
              <a:rPr lang="en-US" sz="2350" b="1" dirty="0">
                <a:solidFill>
                  <a:srgbClr val="272525"/>
                </a:solidFill>
                <a:latin typeface="Petrona Bold" pitchFamily="34" charset="0"/>
                <a:ea typeface="Petrona Bold" pitchFamily="34" charset="-122"/>
                <a:cs typeface="Petrona Bold" pitchFamily="34" charset="-120"/>
              </a:rPr>
              <a:t>Thoát chương trình</a:t>
            </a:r>
            <a:endParaRPr lang="en-US" sz="2350" dirty="0"/>
          </a:p>
        </p:txBody>
      </p:sp>
      <p:sp>
        <p:nvSpPr>
          <p:cNvPr id="24" name="Text 22"/>
          <p:cNvSpPr/>
          <p:nvPr/>
        </p:nvSpPr>
        <p:spPr>
          <a:xfrm>
            <a:off x="770334" y="6791927"/>
            <a:ext cx="6438067" cy="346948"/>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Kết thúc ứng dụng một cách an toàn.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158008" y="434816"/>
            <a:ext cx="6185654" cy="513874"/>
          </a:xfrm>
          <a:prstGeom prst="rect">
            <a:avLst/>
          </a:prstGeom>
          <a:noFill/>
          <a:ln/>
        </p:spPr>
        <p:txBody>
          <a:bodyPr wrap="none" lIns="0" tIns="0" rIns="0" bIns="0" rtlCol="0" anchor="t"/>
          <a:lstStyle/>
          <a:p>
            <a:pPr marL="0" indent="0" algn="l">
              <a:lnSpc>
                <a:spcPts val="4000"/>
              </a:lnSpc>
              <a:buNone/>
            </a:pPr>
            <a:r>
              <a:rPr lang="en-US" sz="3200" b="1" dirty="0">
                <a:solidFill>
                  <a:srgbClr val="F95F88"/>
                </a:solidFill>
                <a:latin typeface="Petrona Bold" pitchFamily="34" charset="0"/>
                <a:ea typeface="Petrona Bold" pitchFamily="34" charset="-122"/>
                <a:cs typeface="Petrona Bold" pitchFamily="34" charset="-120"/>
              </a:rPr>
              <a:t>Khó khăn &amp; Bài học kinh nghiệm</a:t>
            </a:r>
            <a:endParaRPr lang="en-US" sz="3200" dirty="0"/>
          </a:p>
        </p:txBody>
      </p:sp>
      <p:sp>
        <p:nvSpPr>
          <p:cNvPr id="4" name="Text 1"/>
          <p:cNvSpPr/>
          <p:nvPr/>
        </p:nvSpPr>
        <p:spPr>
          <a:xfrm>
            <a:off x="2158008" y="1813407"/>
            <a:ext cx="2466499" cy="308372"/>
          </a:xfrm>
          <a:prstGeom prst="rect">
            <a:avLst/>
          </a:prstGeom>
          <a:noFill/>
          <a:ln/>
        </p:spPr>
        <p:txBody>
          <a:bodyPr wrap="none" lIns="0" tIns="0" rIns="0" bIns="0" rtlCol="0" anchor="t"/>
          <a:lstStyle/>
          <a:p>
            <a:pPr marL="0" indent="0" algn="l">
              <a:lnSpc>
                <a:spcPts val="2400"/>
              </a:lnSpc>
              <a:buNone/>
            </a:pPr>
            <a:r>
              <a:rPr lang="en-US" sz="2800" b="1" dirty="0">
                <a:solidFill>
                  <a:srgbClr val="F95F88"/>
                </a:solidFill>
                <a:latin typeface="Petrona Bold" pitchFamily="34" charset="0"/>
                <a:ea typeface="Petrona Bold" pitchFamily="34" charset="-122"/>
                <a:cs typeface="Petrona Bold" pitchFamily="34" charset="-120"/>
              </a:rPr>
              <a:t>Khó khăn gặp phải</a:t>
            </a:r>
            <a:endParaRPr lang="en-US" sz="2800" dirty="0"/>
          </a:p>
        </p:txBody>
      </p:sp>
      <p:sp>
        <p:nvSpPr>
          <p:cNvPr id="5" name="Text 2"/>
          <p:cNvSpPr/>
          <p:nvPr/>
        </p:nvSpPr>
        <p:spPr>
          <a:xfrm>
            <a:off x="2158008" y="2220243"/>
            <a:ext cx="4974908" cy="3798591"/>
          </a:xfrm>
          <a:prstGeom prst="rect">
            <a:avLst/>
          </a:prstGeom>
          <a:noFill/>
          <a:ln/>
        </p:spPr>
        <p:txBody>
          <a:bodyPr wrap="square" lIns="0" tIns="0" rIns="0" bIns="0" rtlCol="0" anchor="t"/>
          <a:lstStyle/>
          <a:p>
            <a:pPr marL="342900" indent="-342900">
              <a:lnSpc>
                <a:spcPct val="200000"/>
              </a:lnSpc>
              <a:buSzPct val="100000"/>
              <a:buChar char="•"/>
            </a:pPr>
            <a:r>
              <a:rPr lang="vi-VN">
                <a:solidFill>
                  <a:srgbClr val="272525"/>
                </a:solidFill>
                <a:latin typeface="Inter" pitchFamily="34" charset="0"/>
                <a:ea typeface="Inter" pitchFamily="34" charset="-122"/>
                <a:cs typeface="Inter" pitchFamily="34" charset="-120"/>
              </a:rPr>
              <a:t>Thời gian thực hiện ngắn, khó hoàn thiện đầy đủ ý tưởng</a:t>
            </a:r>
          </a:p>
          <a:p>
            <a:pPr marL="342900" indent="-342900">
              <a:lnSpc>
                <a:spcPct val="200000"/>
              </a:lnSpc>
              <a:buSzPct val="100000"/>
              <a:buChar char="•"/>
            </a:pPr>
            <a:r>
              <a:rPr lang="vi-VN">
                <a:solidFill>
                  <a:srgbClr val="272525"/>
                </a:solidFill>
                <a:latin typeface="Inter" pitchFamily="34" charset="0"/>
                <a:ea typeface="Inter" pitchFamily="34" charset="-122"/>
                <a:cs typeface="Inter" pitchFamily="34" charset="-120"/>
              </a:rPr>
              <a:t>Một số thành viên không tham gia đầy đủ, ảnh hưởng tiến độ chung</a:t>
            </a:r>
          </a:p>
          <a:p>
            <a:pPr marL="342900" indent="-342900">
              <a:lnSpc>
                <a:spcPct val="200000"/>
              </a:lnSpc>
              <a:buSzPct val="100000"/>
              <a:buChar char="•"/>
            </a:pPr>
            <a:r>
              <a:rPr lang="vi-VN">
                <a:solidFill>
                  <a:srgbClr val="272525"/>
                </a:solidFill>
                <a:latin typeface="Inter" pitchFamily="34" charset="0"/>
                <a:ea typeface="Inter" pitchFamily="34" charset="-122"/>
                <a:cs typeface="Inter" pitchFamily="34" charset="-120"/>
              </a:rPr>
              <a:t>Khó phân chia công việc trong nhóm, vai trò chưa rõ ràng</a:t>
            </a:r>
            <a:endParaRPr lang="en-US" dirty="0"/>
          </a:p>
        </p:txBody>
      </p:sp>
      <p:sp>
        <p:nvSpPr>
          <p:cNvPr id="11" name="Text 1">
            <a:extLst>
              <a:ext uri="{FF2B5EF4-FFF2-40B4-BE49-F238E27FC236}">
                <a16:creationId xmlns:a16="http://schemas.microsoft.com/office/drawing/2014/main" id="{AE86F078-7882-FB47-0453-203C9181A8E5}"/>
              </a:ext>
            </a:extLst>
          </p:cNvPr>
          <p:cNvSpPr/>
          <p:nvPr/>
        </p:nvSpPr>
        <p:spPr>
          <a:xfrm>
            <a:off x="7681061" y="1813407"/>
            <a:ext cx="2466499" cy="308372"/>
          </a:xfrm>
          <a:prstGeom prst="rect">
            <a:avLst/>
          </a:prstGeom>
          <a:noFill/>
          <a:ln/>
        </p:spPr>
        <p:txBody>
          <a:bodyPr wrap="none" lIns="0" tIns="0" rIns="0" bIns="0" rtlCol="0" anchor="t"/>
          <a:lstStyle/>
          <a:p>
            <a:pPr marL="0" indent="0" algn="l">
              <a:lnSpc>
                <a:spcPts val="2400"/>
              </a:lnSpc>
              <a:buNone/>
            </a:pPr>
            <a:r>
              <a:rPr lang="en-US" sz="2800" b="1">
                <a:solidFill>
                  <a:srgbClr val="F95F88"/>
                </a:solidFill>
                <a:latin typeface="Petrona Bold" pitchFamily="34" charset="0"/>
                <a:ea typeface="Petrona Bold" pitchFamily="34" charset="-122"/>
              </a:rPr>
              <a:t>Bài học rút ra</a:t>
            </a:r>
            <a:endParaRPr lang="en-US" sz="2800" dirty="0"/>
          </a:p>
        </p:txBody>
      </p:sp>
      <p:sp>
        <p:nvSpPr>
          <p:cNvPr id="12" name="Text 2">
            <a:extLst>
              <a:ext uri="{FF2B5EF4-FFF2-40B4-BE49-F238E27FC236}">
                <a16:creationId xmlns:a16="http://schemas.microsoft.com/office/drawing/2014/main" id="{BEB20133-9ADF-0EA6-2816-0240F79F135A}"/>
              </a:ext>
            </a:extLst>
          </p:cNvPr>
          <p:cNvSpPr/>
          <p:nvPr/>
        </p:nvSpPr>
        <p:spPr>
          <a:xfrm>
            <a:off x="7681061" y="2220243"/>
            <a:ext cx="5375182" cy="3798591"/>
          </a:xfrm>
          <a:prstGeom prst="rect">
            <a:avLst/>
          </a:prstGeom>
          <a:noFill/>
          <a:ln/>
        </p:spPr>
        <p:txBody>
          <a:bodyPr wrap="square" lIns="0" tIns="0" rIns="0" bIns="0" rtlCol="0" anchor="t"/>
          <a:lstStyle/>
          <a:p>
            <a:pPr marL="342900" indent="-342900">
              <a:lnSpc>
                <a:spcPct val="200000"/>
              </a:lnSpc>
              <a:buSzPct val="100000"/>
              <a:buChar char="•"/>
            </a:pPr>
            <a:r>
              <a:rPr lang="vi-VN">
                <a:solidFill>
                  <a:srgbClr val="272525"/>
                </a:solidFill>
                <a:latin typeface="Inter" pitchFamily="34" charset="0"/>
                <a:ea typeface="Inter" pitchFamily="34" charset="-122"/>
                <a:cs typeface="Inter" pitchFamily="34" charset="-120"/>
              </a:rPr>
              <a:t>Cần phân công nhiệm vụ rõ ràng ngay từ đầu</a:t>
            </a:r>
          </a:p>
          <a:p>
            <a:pPr marL="342900" indent="-342900">
              <a:lnSpc>
                <a:spcPct val="200000"/>
              </a:lnSpc>
              <a:buSzPct val="100000"/>
              <a:buChar char="•"/>
            </a:pPr>
            <a:r>
              <a:rPr lang="vi-VN">
                <a:solidFill>
                  <a:srgbClr val="272525"/>
                </a:solidFill>
                <a:latin typeface="Inter" pitchFamily="34" charset="0"/>
                <a:ea typeface="Inter" pitchFamily="34" charset="-122"/>
                <a:cs typeface="Inter" pitchFamily="34" charset="-120"/>
              </a:rPr>
              <a:t>Chủ động quản lý thời gian và theo dõi tiến độ</a:t>
            </a:r>
          </a:p>
          <a:p>
            <a:pPr marL="342900" indent="-342900">
              <a:lnSpc>
                <a:spcPct val="200000"/>
              </a:lnSpc>
              <a:buSzPct val="100000"/>
              <a:buChar char="•"/>
            </a:pPr>
            <a:r>
              <a:rPr lang="vi-VN">
                <a:solidFill>
                  <a:srgbClr val="272525"/>
                </a:solidFill>
                <a:latin typeface="Inter" pitchFamily="34" charset="0"/>
                <a:ea typeface="Inter" pitchFamily="34" charset="-122"/>
                <a:cs typeface="Inter" pitchFamily="34" charset="-120"/>
              </a:rPr>
              <a:t>Tăng tinh thần làm việc nhóm và trách nhiệm cá nhân</a:t>
            </a:r>
          </a:p>
          <a:p>
            <a:pPr marL="342900" indent="-342900">
              <a:lnSpc>
                <a:spcPct val="200000"/>
              </a:lnSpc>
              <a:buSzPct val="100000"/>
              <a:buChar char="•"/>
            </a:pPr>
            <a:r>
              <a:rPr lang="vi-VN">
                <a:solidFill>
                  <a:srgbClr val="272525"/>
                </a:solidFill>
                <a:latin typeface="Inter" pitchFamily="34" charset="0"/>
                <a:ea typeface="Inter" pitchFamily="34" charset="-122"/>
                <a:cs typeface="Inter" pitchFamily="34" charset="-120"/>
              </a:rPr>
              <a:t>Ưu tiên hoàn thành chức năng cốt lõi trước</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55665" y="1605439"/>
            <a:ext cx="6143149" cy="545663"/>
          </a:xfrm>
          <a:prstGeom prst="rect">
            <a:avLst/>
          </a:prstGeom>
          <a:noFill/>
          <a:ln/>
        </p:spPr>
        <p:txBody>
          <a:bodyPr wrap="none" lIns="0" tIns="0" rIns="0" bIns="0" rtlCol="0" anchor="t"/>
          <a:lstStyle/>
          <a:p>
            <a:pPr marL="0" indent="0" algn="l">
              <a:lnSpc>
                <a:spcPts val="4250"/>
              </a:lnSpc>
              <a:buNone/>
            </a:pPr>
            <a:r>
              <a:rPr lang="en-US" sz="3400" b="1" dirty="0">
                <a:solidFill>
                  <a:srgbClr val="F95F88"/>
                </a:solidFill>
                <a:latin typeface="Petrona Bold" pitchFamily="34" charset="0"/>
                <a:ea typeface="Petrona Bold" pitchFamily="34" charset="-122"/>
                <a:cs typeface="Petrona Bold" pitchFamily="34" charset="-120"/>
              </a:rPr>
              <a:t>Hướng phát triển &amp; Lời cảm ơn</a:t>
            </a:r>
            <a:endParaRPr lang="en-US" sz="3400" dirty="0"/>
          </a:p>
        </p:txBody>
      </p:sp>
      <p:sp>
        <p:nvSpPr>
          <p:cNvPr id="4" name="Shape 1"/>
          <p:cNvSpPr/>
          <p:nvPr/>
        </p:nvSpPr>
        <p:spPr>
          <a:xfrm>
            <a:off x="555665" y="2555915"/>
            <a:ext cx="3960733" cy="1349454"/>
          </a:xfrm>
          <a:prstGeom prst="roundRect">
            <a:avLst>
              <a:gd name="adj" fmla="val 8131"/>
            </a:avLst>
          </a:prstGeom>
          <a:solidFill>
            <a:srgbClr val="FDFAF7"/>
          </a:solidFill>
          <a:ln/>
        </p:spPr>
        <p:txBody>
          <a:bodyPr/>
          <a:lstStyle/>
          <a:p>
            <a:endParaRPr lang="vi-VN"/>
          </a:p>
        </p:txBody>
      </p:sp>
      <p:sp>
        <p:nvSpPr>
          <p:cNvPr id="5" name="Shape 2"/>
          <p:cNvSpPr/>
          <p:nvPr/>
        </p:nvSpPr>
        <p:spPr>
          <a:xfrm>
            <a:off x="555665" y="2533055"/>
            <a:ext cx="3960733" cy="91440"/>
          </a:xfrm>
          <a:prstGeom prst="roundRect">
            <a:avLst>
              <a:gd name="adj" fmla="val 72924"/>
            </a:avLst>
          </a:prstGeom>
          <a:solidFill>
            <a:srgbClr val="6237C8"/>
          </a:solidFill>
          <a:ln/>
        </p:spPr>
        <p:txBody>
          <a:bodyPr/>
          <a:lstStyle/>
          <a:p>
            <a:endParaRPr lang="vi-VN"/>
          </a:p>
        </p:txBody>
      </p:sp>
      <p:sp>
        <p:nvSpPr>
          <p:cNvPr id="6" name="Shape 3"/>
          <p:cNvSpPr/>
          <p:nvPr/>
        </p:nvSpPr>
        <p:spPr>
          <a:xfrm>
            <a:off x="2297906" y="2317790"/>
            <a:ext cx="476250" cy="476250"/>
          </a:xfrm>
          <a:prstGeom prst="roundRect">
            <a:avLst>
              <a:gd name="adj" fmla="val 192000"/>
            </a:avLst>
          </a:prstGeom>
          <a:solidFill>
            <a:srgbClr val="6237C8"/>
          </a:solidFill>
          <a:ln/>
        </p:spPr>
        <p:txBody>
          <a:bodyPr/>
          <a:lstStyle/>
          <a:p>
            <a:endParaRPr lang="vi-VN"/>
          </a:p>
        </p:txBody>
      </p:sp>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40781" y="2460665"/>
            <a:ext cx="190500" cy="190500"/>
          </a:xfrm>
          <a:prstGeom prst="rect">
            <a:avLst/>
          </a:prstGeom>
        </p:spPr>
      </p:pic>
      <p:sp>
        <p:nvSpPr>
          <p:cNvPr id="8" name="Text 4"/>
          <p:cNvSpPr/>
          <p:nvPr/>
        </p:nvSpPr>
        <p:spPr>
          <a:xfrm>
            <a:off x="737235" y="2952750"/>
            <a:ext cx="2183011" cy="272891"/>
          </a:xfrm>
          <a:prstGeom prst="rect">
            <a:avLst/>
          </a:prstGeom>
          <a:noFill/>
          <a:ln/>
        </p:spPr>
        <p:txBody>
          <a:bodyPr wrap="none" lIns="0" tIns="0" rIns="0" bIns="0" rtlCol="0" anchor="t"/>
          <a:lstStyle/>
          <a:p>
            <a:pPr marL="0" indent="0" algn="l">
              <a:lnSpc>
                <a:spcPts val="2100"/>
              </a:lnSpc>
              <a:buNone/>
            </a:pPr>
            <a:r>
              <a:rPr lang="en-US" sz="2400" b="1" dirty="0">
                <a:solidFill>
                  <a:srgbClr val="272525"/>
                </a:solidFill>
                <a:latin typeface="Petrona Bold" pitchFamily="34" charset="0"/>
                <a:ea typeface="Petrona Bold" pitchFamily="34" charset="-122"/>
                <a:cs typeface="Petrona Bold" pitchFamily="34" charset="-120"/>
              </a:rPr>
              <a:t>Kết nối cơ sở dữ liệu</a:t>
            </a:r>
            <a:endParaRPr lang="en-US" sz="2400" dirty="0"/>
          </a:p>
        </p:txBody>
      </p:sp>
      <p:sp>
        <p:nvSpPr>
          <p:cNvPr id="9" name="Text 5"/>
          <p:cNvSpPr/>
          <p:nvPr/>
        </p:nvSpPr>
        <p:spPr>
          <a:xfrm>
            <a:off x="737235" y="3327041"/>
            <a:ext cx="3597593" cy="1131808"/>
          </a:xfrm>
          <a:prstGeom prst="rect">
            <a:avLst/>
          </a:prstGeom>
          <a:noFill/>
          <a:ln/>
        </p:spPr>
        <p:txBody>
          <a:bodyPr wrap="square" lIns="0" tIns="0" rIns="0" bIns="0" rtlCol="0" anchor="t"/>
          <a:lstStyle/>
          <a:p>
            <a:pPr marL="285750" indent="-285750" algn="l">
              <a:lnSpc>
                <a:spcPts val="1700"/>
              </a:lnSpc>
              <a:buFont typeface="Arial" panose="020B0604020202020204" pitchFamily="34" charset="0"/>
              <a:buChar char="•"/>
            </a:pPr>
            <a:r>
              <a:rPr lang="en-US" sz="1600" dirty="0">
                <a:solidFill>
                  <a:srgbClr val="272525"/>
                </a:solidFill>
                <a:latin typeface="Inter" pitchFamily="34" charset="0"/>
                <a:ea typeface="Inter" pitchFamily="34" charset="-122"/>
                <a:cs typeface="Inter" pitchFamily="34" charset="-120"/>
              </a:rPr>
              <a:t>Tích hợp MySQL để lưu trữ dữ liệu vĩnh viễn, không bị mất khi thoát chương trình.</a:t>
            </a:r>
            <a:endParaRPr lang="en-US" sz="1600" dirty="0"/>
          </a:p>
        </p:txBody>
      </p:sp>
      <p:sp>
        <p:nvSpPr>
          <p:cNvPr id="10" name="Shape 6"/>
          <p:cNvSpPr/>
          <p:nvPr/>
        </p:nvSpPr>
        <p:spPr>
          <a:xfrm>
            <a:off x="4627483" y="2555915"/>
            <a:ext cx="3960852" cy="1349454"/>
          </a:xfrm>
          <a:prstGeom prst="roundRect">
            <a:avLst>
              <a:gd name="adj" fmla="val 8131"/>
            </a:avLst>
          </a:prstGeom>
          <a:solidFill>
            <a:srgbClr val="FDFAF7"/>
          </a:solidFill>
          <a:ln/>
        </p:spPr>
        <p:txBody>
          <a:bodyPr/>
          <a:lstStyle/>
          <a:p>
            <a:endParaRPr lang="vi-VN"/>
          </a:p>
        </p:txBody>
      </p:sp>
      <p:sp>
        <p:nvSpPr>
          <p:cNvPr id="11" name="Shape 7"/>
          <p:cNvSpPr/>
          <p:nvPr/>
        </p:nvSpPr>
        <p:spPr>
          <a:xfrm>
            <a:off x="4627483" y="2533055"/>
            <a:ext cx="3960852" cy="91440"/>
          </a:xfrm>
          <a:prstGeom prst="roundRect">
            <a:avLst>
              <a:gd name="adj" fmla="val 72924"/>
            </a:avLst>
          </a:prstGeom>
          <a:solidFill>
            <a:srgbClr val="6237C8"/>
          </a:solidFill>
          <a:ln/>
        </p:spPr>
        <p:txBody>
          <a:bodyPr/>
          <a:lstStyle/>
          <a:p>
            <a:endParaRPr lang="vi-VN"/>
          </a:p>
        </p:txBody>
      </p:sp>
      <p:sp>
        <p:nvSpPr>
          <p:cNvPr id="12" name="Shape 8"/>
          <p:cNvSpPr/>
          <p:nvPr/>
        </p:nvSpPr>
        <p:spPr>
          <a:xfrm>
            <a:off x="6369725" y="2317790"/>
            <a:ext cx="476250" cy="476250"/>
          </a:xfrm>
          <a:prstGeom prst="roundRect">
            <a:avLst>
              <a:gd name="adj" fmla="val 192000"/>
            </a:avLst>
          </a:prstGeom>
          <a:solidFill>
            <a:srgbClr val="6237C8"/>
          </a:solidFill>
          <a:ln/>
        </p:spPr>
        <p:txBody>
          <a:bodyPr/>
          <a:lstStyle/>
          <a:p>
            <a:endParaRPr lang="vi-VN"/>
          </a:p>
        </p:txBody>
      </p:sp>
      <p:pic>
        <p:nvPicPr>
          <p:cNvPr id="13"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12600" y="2460665"/>
            <a:ext cx="190500" cy="190500"/>
          </a:xfrm>
          <a:prstGeom prst="rect">
            <a:avLst/>
          </a:prstGeom>
        </p:spPr>
      </p:pic>
      <p:sp>
        <p:nvSpPr>
          <p:cNvPr id="14" name="Text 9"/>
          <p:cNvSpPr/>
          <p:nvPr/>
        </p:nvSpPr>
        <p:spPr>
          <a:xfrm>
            <a:off x="4809053" y="2952750"/>
            <a:ext cx="2685097" cy="272891"/>
          </a:xfrm>
          <a:prstGeom prst="rect">
            <a:avLst/>
          </a:prstGeom>
          <a:noFill/>
          <a:ln/>
        </p:spPr>
        <p:txBody>
          <a:bodyPr wrap="none" lIns="0" tIns="0" rIns="0" bIns="0" rtlCol="0" anchor="t"/>
          <a:lstStyle/>
          <a:p>
            <a:pPr marL="0" indent="0" algn="l">
              <a:lnSpc>
                <a:spcPts val="2100"/>
              </a:lnSpc>
              <a:buNone/>
            </a:pPr>
            <a:r>
              <a:rPr lang="en-US" sz="2400" b="1" dirty="0">
                <a:solidFill>
                  <a:srgbClr val="272525"/>
                </a:solidFill>
                <a:latin typeface="Petrona Bold" pitchFamily="34" charset="0"/>
                <a:ea typeface="Petrona Bold" pitchFamily="34" charset="-122"/>
                <a:cs typeface="Petrona Bold" pitchFamily="34" charset="-120"/>
              </a:rPr>
              <a:t>Phát triển giao diện đồ họa</a:t>
            </a:r>
            <a:endParaRPr lang="en-US" sz="2400" dirty="0"/>
          </a:p>
        </p:txBody>
      </p:sp>
      <p:sp>
        <p:nvSpPr>
          <p:cNvPr id="15" name="Text 10"/>
          <p:cNvSpPr/>
          <p:nvPr/>
        </p:nvSpPr>
        <p:spPr>
          <a:xfrm>
            <a:off x="4809053" y="3292316"/>
            <a:ext cx="3597712" cy="1166533"/>
          </a:xfrm>
          <a:prstGeom prst="rect">
            <a:avLst/>
          </a:prstGeom>
          <a:noFill/>
          <a:ln/>
        </p:spPr>
        <p:txBody>
          <a:bodyPr wrap="square" lIns="0" tIns="0" rIns="0" bIns="0" rtlCol="0" anchor="t"/>
          <a:lstStyle/>
          <a:p>
            <a:pPr marL="285750" indent="-285750" algn="l">
              <a:lnSpc>
                <a:spcPts val="1700"/>
              </a:lnSpc>
              <a:buFont typeface="Arial" panose="020B0604020202020204" pitchFamily="34" charset="0"/>
              <a:buChar char="•"/>
            </a:pPr>
            <a:r>
              <a:rPr lang="en-US" sz="1600" dirty="0">
                <a:solidFill>
                  <a:srgbClr val="272525"/>
                </a:solidFill>
                <a:latin typeface="Inter" pitchFamily="34" charset="0"/>
                <a:ea typeface="Inter" pitchFamily="34" charset="-122"/>
                <a:cs typeface="Inter" pitchFamily="34" charset="-120"/>
              </a:rPr>
              <a:t>Xây dựng GUI thân thiện hơn bằng Swing/JavaFX hoặc phiên bản Web.</a:t>
            </a:r>
            <a:endParaRPr lang="en-US" sz="1600" dirty="0"/>
          </a:p>
        </p:txBody>
      </p:sp>
      <p:sp>
        <p:nvSpPr>
          <p:cNvPr id="16" name="Shape 11"/>
          <p:cNvSpPr/>
          <p:nvPr/>
        </p:nvSpPr>
        <p:spPr>
          <a:xfrm>
            <a:off x="555665" y="4254579"/>
            <a:ext cx="8032671" cy="1133713"/>
          </a:xfrm>
          <a:prstGeom prst="roundRect">
            <a:avLst>
              <a:gd name="adj" fmla="val 9679"/>
            </a:avLst>
          </a:prstGeom>
          <a:solidFill>
            <a:srgbClr val="FDFAF7"/>
          </a:solidFill>
          <a:ln/>
        </p:spPr>
        <p:txBody>
          <a:bodyPr/>
          <a:lstStyle/>
          <a:p>
            <a:endParaRPr lang="vi-VN"/>
          </a:p>
        </p:txBody>
      </p:sp>
      <p:sp>
        <p:nvSpPr>
          <p:cNvPr id="22" name="Text 16"/>
          <p:cNvSpPr/>
          <p:nvPr/>
        </p:nvSpPr>
        <p:spPr>
          <a:xfrm>
            <a:off x="793790" y="5679996"/>
            <a:ext cx="7221379" cy="436602"/>
          </a:xfrm>
          <a:prstGeom prst="rect">
            <a:avLst/>
          </a:prstGeom>
          <a:noFill/>
          <a:ln/>
        </p:spPr>
        <p:txBody>
          <a:bodyPr wrap="none" lIns="0" tIns="0" rIns="0" bIns="0" rtlCol="0" anchor="t"/>
          <a:lstStyle/>
          <a:p>
            <a:pPr marL="0" indent="0" algn="l">
              <a:lnSpc>
                <a:spcPts val="3400"/>
              </a:lnSpc>
              <a:buNone/>
            </a:pPr>
            <a:r>
              <a:rPr lang="en-US" sz="3200" b="1" dirty="0">
                <a:solidFill>
                  <a:srgbClr val="F95F88"/>
                </a:solidFill>
                <a:latin typeface="Petrona Bold" pitchFamily="34" charset="0"/>
                <a:ea typeface="Petrona Bold" pitchFamily="34" charset="-122"/>
                <a:cs typeface="Petrona Bold" pitchFamily="34" charset="-120"/>
              </a:rPr>
              <a:t>"Cảm ơn quý thầy cô và các bạn đã lắng nghe!"</a:t>
            </a:r>
            <a:endParaRPr lang="en-US" sz="3200" dirty="0"/>
          </a:p>
        </p:txBody>
      </p:sp>
      <p:sp>
        <p:nvSpPr>
          <p:cNvPr id="23" name="Text 17"/>
          <p:cNvSpPr/>
          <p:nvPr/>
        </p:nvSpPr>
        <p:spPr>
          <a:xfrm>
            <a:off x="793790" y="6283285"/>
            <a:ext cx="7794546" cy="215741"/>
          </a:xfrm>
          <a:prstGeom prst="rect">
            <a:avLst/>
          </a:prstGeom>
          <a:noFill/>
          <a:ln/>
        </p:spPr>
        <p:txBody>
          <a:bodyPr wrap="none" lIns="0" tIns="0" rIns="0" bIns="0" rtlCol="0" anchor="t"/>
          <a:lstStyle/>
          <a:p>
            <a:pPr marL="0" indent="0" algn="l">
              <a:lnSpc>
                <a:spcPts val="1700"/>
              </a:lnSpc>
              <a:buNone/>
            </a:pPr>
            <a:r>
              <a:rPr lang="en-US" sz="1600" dirty="0">
                <a:solidFill>
                  <a:srgbClr val="272525"/>
                </a:solidFill>
                <a:latin typeface="Inter" pitchFamily="34" charset="0"/>
                <a:ea typeface="Inter" pitchFamily="34" charset="-122"/>
                <a:cs typeface="Inter" pitchFamily="34" charset="-120"/>
              </a:rPr>
              <a:t>Mọi câu hỏi và đóng góp </a:t>
            </a:r>
            <a:r>
              <a:rPr lang="en-US" sz="1600">
                <a:solidFill>
                  <a:srgbClr val="272525"/>
                </a:solidFill>
                <a:latin typeface="Inter" pitchFamily="34" charset="0"/>
                <a:ea typeface="Inter" pitchFamily="34" charset="-122"/>
                <a:cs typeface="Inter" pitchFamily="34" charset="-120"/>
              </a:rPr>
              <a:t>xin mời mọi người </a:t>
            </a:r>
            <a:r>
              <a:rPr lang="en-US" sz="1600" dirty="0">
                <a:solidFill>
                  <a:srgbClr val="272525"/>
                </a:solidFill>
                <a:latin typeface="Inter" pitchFamily="34" charset="0"/>
                <a:ea typeface="Inter" pitchFamily="34" charset="-122"/>
                <a:cs typeface="Inter" pitchFamily="34" charset="-120"/>
              </a:rPr>
              <a:t>đặt ra ngay bây giờ.</a:t>
            </a:r>
            <a:endParaRPr lang="en-US" sz="1600" dirty="0"/>
          </a:p>
        </p:txBody>
      </p:sp>
      <p:sp>
        <p:nvSpPr>
          <p:cNvPr id="24" name="Shape 18"/>
          <p:cNvSpPr/>
          <p:nvPr/>
        </p:nvSpPr>
        <p:spPr>
          <a:xfrm>
            <a:off x="555665" y="5513308"/>
            <a:ext cx="22860" cy="1110734"/>
          </a:xfrm>
          <a:prstGeom prst="rect">
            <a:avLst/>
          </a:prstGeom>
          <a:solidFill>
            <a:srgbClr val="6237C8"/>
          </a:solidFill>
          <a:ln/>
        </p:spPr>
        <p:txBody>
          <a:bodyPr/>
          <a:lstStyle/>
          <a:p>
            <a:endParaRPr lang="vi-V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TotalTime>
  <Words>1109</Words>
  <Application>Microsoft Office PowerPoint</Application>
  <PresentationFormat>Tùy chỉnh</PresentationFormat>
  <Paragraphs>149</Paragraphs>
  <Slides>9</Slides>
  <Notes>9</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9</vt:i4>
      </vt:variant>
    </vt:vector>
  </HeadingPairs>
  <TitlesOfParts>
    <vt:vector size="15" baseType="lpstr">
      <vt:lpstr>Petrona Light</vt:lpstr>
      <vt:lpstr>Inter</vt:lpstr>
      <vt:lpstr>Arial</vt:lpstr>
      <vt:lpstr>Wingdings</vt:lpstr>
      <vt:lpstr>Petrona Bold</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Molistar Lê Toàn</cp:lastModifiedBy>
  <cp:revision>2</cp:revision>
  <dcterms:created xsi:type="dcterms:W3CDTF">2026-01-28T06:40:49Z</dcterms:created>
  <dcterms:modified xsi:type="dcterms:W3CDTF">2026-01-29T02:11:46Z</dcterms:modified>
</cp:coreProperties>
</file>