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4630400" cy="8229600"/>
  <p:notesSz cx="8229600" cy="14630400"/>
  <p:embeddedFontLst>
    <p:embeddedFont>
      <p:font typeface="Inter" panose="020B0604020202020204" charset="0"/>
      <p:regular r:id="rId12"/>
    </p:embeddedFont>
  </p:embeddedFontLst>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Kiểu Trung bình 2 - Màu chủ đề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Kiểu Trung bình 2 - Màu chủ đề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Kiểu Trung bình 2 - Màu chủ đề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2" d="100"/>
          <a:sy n="62" d="100"/>
        </p:scale>
        <p:origin x="984" y="27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90209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2E9"/>
          </a:solidFill>
          <a:ln/>
        </p:spPr>
        <p:txBody>
          <a:bodyPr/>
          <a:lstStyle/>
          <a:p>
            <a:endParaRPr lang="vi-VN"/>
          </a:p>
        </p:txBody>
      </p:sp>
      <p:sp>
        <p:nvSpPr>
          <p:cNvPr id="3" name="Shape 1"/>
          <p:cNvSpPr/>
          <p:nvPr/>
        </p:nvSpPr>
        <p:spPr>
          <a:xfrm>
            <a:off x="0" y="0"/>
            <a:ext cx="14630400" cy="8229600"/>
          </a:xfrm>
          <a:prstGeom prst="rect">
            <a:avLst/>
          </a:prstGeom>
          <a:solidFill>
            <a:srgbClr val="FDFAF7"/>
          </a:solidFill>
          <a:ln/>
        </p:spPr>
        <p:txBody>
          <a:bodyPr/>
          <a:lstStyle/>
          <a:p>
            <a:endParaRPr lang="vi-VN"/>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2E9"/>
          </a:solidFill>
          <a:ln/>
        </p:spPr>
        <p:txBody>
          <a:bodyPr/>
          <a:lstStyle/>
          <a:p>
            <a:endParaRPr lang="vi-VN"/>
          </a:p>
        </p:txBody>
      </p:sp>
      <p:sp>
        <p:nvSpPr>
          <p:cNvPr id="3" name="Shape 1"/>
          <p:cNvSpPr/>
          <p:nvPr/>
        </p:nvSpPr>
        <p:spPr>
          <a:xfrm>
            <a:off x="0" y="0"/>
            <a:ext cx="14630400" cy="8229600"/>
          </a:xfrm>
          <a:prstGeom prst="rect">
            <a:avLst/>
          </a:prstGeom>
          <a:solidFill>
            <a:srgbClr val="FDFAF7"/>
          </a:solidFill>
          <a:ln/>
        </p:spPr>
        <p:txBody>
          <a:bodyPr/>
          <a:lstStyle/>
          <a:p>
            <a:endParaRPr lang="vi-VN"/>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2E9"/>
          </a:solidFill>
          <a:ln/>
        </p:spPr>
        <p:txBody>
          <a:bodyPr/>
          <a:lstStyle/>
          <a:p>
            <a:endParaRPr lang="vi-VN"/>
          </a:p>
        </p:txBody>
      </p:sp>
      <p:sp>
        <p:nvSpPr>
          <p:cNvPr id="3" name="Shape 1"/>
          <p:cNvSpPr/>
          <p:nvPr/>
        </p:nvSpPr>
        <p:spPr>
          <a:xfrm>
            <a:off x="0" y="0"/>
            <a:ext cx="14630400" cy="8229600"/>
          </a:xfrm>
          <a:prstGeom prst="rect">
            <a:avLst/>
          </a:prstGeom>
          <a:solidFill>
            <a:srgbClr val="FDFAF7"/>
          </a:solidFill>
          <a:ln/>
        </p:spPr>
        <p:txBody>
          <a:bodyPr/>
          <a:lstStyle/>
          <a:p>
            <a:endParaRPr lang="vi-VN"/>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2E9"/>
          </a:solidFill>
          <a:ln/>
        </p:spPr>
        <p:txBody>
          <a:bodyPr/>
          <a:lstStyle/>
          <a:p>
            <a:endParaRPr lang="vi-VN"/>
          </a:p>
        </p:txBody>
      </p:sp>
      <p:sp>
        <p:nvSpPr>
          <p:cNvPr id="3" name="Shape 1"/>
          <p:cNvSpPr/>
          <p:nvPr/>
        </p:nvSpPr>
        <p:spPr>
          <a:xfrm>
            <a:off x="0" y="0"/>
            <a:ext cx="14630400" cy="8229600"/>
          </a:xfrm>
          <a:prstGeom prst="rect">
            <a:avLst/>
          </a:prstGeom>
          <a:solidFill>
            <a:srgbClr val="FDFAF7"/>
          </a:solidFill>
          <a:ln/>
        </p:spPr>
        <p:txBody>
          <a:bodyPr/>
          <a:lstStyle/>
          <a:p>
            <a:endParaRPr lang="vi-VN"/>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2E9"/>
          </a:solidFill>
          <a:ln/>
        </p:spPr>
        <p:txBody>
          <a:bodyPr/>
          <a:lstStyle/>
          <a:p>
            <a:endParaRPr lang="vi-VN"/>
          </a:p>
        </p:txBody>
      </p:sp>
      <p:sp>
        <p:nvSpPr>
          <p:cNvPr id="3" name="Shape 1"/>
          <p:cNvSpPr/>
          <p:nvPr/>
        </p:nvSpPr>
        <p:spPr>
          <a:xfrm>
            <a:off x="0" y="0"/>
            <a:ext cx="14630400" cy="8229600"/>
          </a:xfrm>
          <a:prstGeom prst="rect">
            <a:avLst/>
          </a:prstGeom>
          <a:solidFill>
            <a:srgbClr val="FDFAF7"/>
          </a:solidFill>
          <a:ln/>
        </p:spPr>
        <p:txBody>
          <a:bodyPr/>
          <a:lstStyle/>
          <a:p>
            <a:endParaRPr lang="vi-VN"/>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2E9"/>
          </a:solidFill>
          <a:ln/>
        </p:spPr>
        <p:txBody>
          <a:bodyPr/>
          <a:lstStyle/>
          <a:p>
            <a:endParaRPr lang="vi-VN"/>
          </a:p>
        </p:txBody>
      </p:sp>
      <p:sp>
        <p:nvSpPr>
          <p:cNvPr id="3" name="Shape 1"/>
          <p:cNvSpPr/>
          <p:nvPr/>
        </p:nvSpPr>
        <p:spPr>
          <a:xfrm>
            <a:off x="0" y="0"/>
            <a:ext cx="14630400" cy="8229600"/>
          </a:xfrm>
          <a:prstGeom prst="rect">
            <a:avLst/>
          </a:prstGeom>
          <a:solidFill>
            <a:srgbClr val="FDFAF7"/>
          </a:solidFill>
          <a:ln/>
        </p:spPr>
        <p:txBody>
          <a:bodyPr/>
          <a:lstStyle/>
          <a:p>
            <a:endParaRPr lang="vi-VN"/>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2E9"/>
          </a:solidFill>
          <a:ln/>
        </p:spPr>
        <p:txBody>
          <a:bodyPr/>
          <a:lstStyle/>
          <a:p>
            <a:endParaRPr lang="vi-VN"/>
          </a:p>
        </p:txBody>
      </p:sp>
      <p:sp>
        <p:nvSpPr>
          <p:cNvPr id="3" name="Shape 1"/>
          <p:cNvSpPr/>
          <p:nvPr/>
        </p:nvSpPr>
        <p:spPr>
          <a:xfrm>
            <a:off x="0" y="0"/>
            <a:ext cx="14630400" cy="8229600"/>
          </a:xfrm>
          <a:prstGeom prst="rect">
            <a:avLst/>
          </a:prstGeom>
          <a:solidFill>
            <a:srgbClr val="FDFAF7"/>
          </a:solidFill>
          <a:ln/>
        </p:spPr>
        <p:txBody>
          <a:bodyPr/>
          <a:lstStyle/>
          <a:p>
            <a:endParaRPr lang="vi-VN"/>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2E9"/>
          </a:solidFill>
          <a:ln/>
        </p:spPr>
        <p:txBody>
          <a:bodyPr/>
          <a:lstStyle/>
          <a:p>
            <a:endParaRPr lang="vi-VN"/>
          </a:p>
        </p:txBody>
      </p:sp>
      <p:sp>
        <p:nvSpPr>
          <p:cNvPr id="3" name="Shape 1"/>
          <p:cNvSpPr/>
          <p:nvPr/>
        </p:nvSpPr>
        <p:spPr>
          <a:xfrm>
            <a:off x="0" y="0"/>
            <a:ext cx="14630400" cy="8229600"/>
          </a:xfrm>
          <a:prstGeom prst="rect">
            <a:avLst/>
          </a:prstGeom>
          <a:solidFill>
            <a:srgbClr val="FDFAF7"/>
          </a:solidFill>
          <a:ln/>
        </p:spPr>
        <p:txBody>
          <a:bodyPr/>
          <a:lstStyle/>
          <a:p>
            <a:endParaRPr lang="vi-VN"/>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AF2E9"/>
          </a:solidFill>
          <a:ln/>
        </p:spPr>
        <p:txBody>
          <a:bodyPr/>
          <a:lstStyle/>
          <a:p>
            <a:endParaRPr lang="vi-VN"/>
          </a:p>
        </p:txBody>
      </p:sp>
      <p:sp>
        <p:nvSpPr>
          <p:cNvPr id="3" name="Shape 1"/>
          <p:cNvSpPr/>
          <p:nvPr/>
        </p:nvSpPr>
        <p:spPr>
          <a:xfrm>
            <a:off x="0" y="0"/>
            <a:ext cx="14630400" cy="8229600"/>
          </a:xfrm>
          <a:prstGeom prst="rect">
            <a:avLst/>
          </a:prstGeom>
          <a:solidFill>
            <a:srgbClr val="FDFAF7"/>
          </a:solidFill>
          <a:ln/>
        </p:spPr>
        <p:txBody>
          <a:bodyPr/>
          <a:lstStyle/>
          <a:p>
            <a:endParaRPr lang="vi-VN"/>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sv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93790" y="891421"/>
            <a:ext cx="7556421" cy="1559243"/>
          </a:xfrm>
          <a:prstGeom prst="rect">
            <a:avLst/>
          </a:prstGeom>
          <a:noFill/>
          <a:ln/>
        </p:spPr>
        <p:txBody>
          <a:bodyPr wrap="square" lIns="0" tIns="0" rIns="0" bIns="0" rtlCol="0" anchor="t"/>
          <a:lstStyle/>
          <a:p>
            <a:pPr marL="0" indent="0" algn="l">
              <a:lnSpc>
                <a:spcPts val="6100"/>
              </a:lnSpc>
              <a:buNone/>
            </a:pPr>
            <a:r>
              <a:rPr lang="en-US" sz="4900" b="1" dirty="0">
                <a:solidFill>
                  <a:srgbClr val="F95F88"/>
                </a:solidFill>
                <a:latin typeface="Petrona Bold" pitchFamily="34" charset="0"/>
                <a:ea typeface="Petrona Bold" pitchFamily="34" charset="-122"/>
                <a:cs typeface="Petrona Bold" pitchFamily="34" charset="-120"/>
              </a:rPr>
              <a:t>BÁO CÁO MINI PROJECT </a:t>
            </a:r>
            <a:r>
              <a:rPr lang="en-US" sz="4900" b="1">
                <a:solidFill>
                  <a:srgbClr val="F95F88"/>
                </a:solidFill>
                <a:latin typeface="Petrona Bold" pitchFamily="34" charset="0"/>
                <a:ea typeface="Petrona Bold" pitchFamily="34" charset="-122"/>
                <a:cs typeface="Petrona Bold" pitchFamily="34" charset="-120"/>
              </a:rPr>
              <a:t>SESSION 08 </a:t>
            </a:r>
            <a:endParaRPr lang="en-US" sz="4900" dirty="0"/>
          </a:p>
        </p:txBody>
      </p:sp>
      <p:sp>
        <p:nvSpPr>
          <p:cNvPr id="4" name="Text 1"/>
          <p:cNvSpPr/>
          <p:nvPr/>
        </p:nvSpPr>
        <p:spPr>
          <a:xfrm>
            <a:off x="793790" y="2541389"/>
            <a:ext cx="7556421" cy="1247299"/>
          </a:xfrm>
          <a:prstGeom prst="rect">
            <a:avLst/>
          </a:prstGeom>
          <a:noFill/>
          <a:ln/>
        </p:spPr>
        <p:txBody>
          <a:bodyPr wrap="square" lIns="0" tIns="0" rIns="0" bIns="0" rtlCol="0" anchor="t"/>
          <a:lstStyle/>
          <a:p>
            <a:pPr>
              <a:lnSpc>
                <a:spcPts val="4900"/>
              </a:lnSpc>
            </a:pPr>
            <a:r>
              <a:rPr lang="vi-VN" sz="2000" b="1">
                <a:solidFill>
                  <a:srgbClr val="F95F88"/>
                </a:solidFill>
                <a:latin typeface="Petrona Bold" pitchFamily="34" charset="0"/>
                <a:ea typeface="Petrona Bold" pitchFamily="34" charset="-122"/>
                <a:cs typeface="Petrona Bold" pitchFamily="34" charset="-120"/>
              </a:rPr>
              <a:t>Thực hành cài đặt lớp, khởi tạo đối tượng, thao tác với mảng đối tượn</a:t>
            </a:r>
            <a:r>
              <a:rPr lang="en-US" sz="2000" b="1">
                <a:solidFill>
                  <a:srgbClr val="F95F88"/>
                </a:solidFill>
                <a:latin typeface="Petrona Bold" pitchFamily="34" charset="0"/>
                <a:ea typeface="Petrona Bold" pitchFamily="34" charset="-122"/>
                <a:cs typeface="Petrona Bold" pitchFamily="34" charset="-120"/>
              </a:rPr>
              <a:t>g</a:t>
            </a:r>
            <a:endParaRPr lang="en-US" sz="2000" dirty="0"/>
          </a:p>
        </p:txBody>
      </p:sp>
      <p:sp>
        <p:nvSpPr>
          <p:cNvPr id="5" name="Text 2"/>
          <p:cNvSpPr/>
          <p:nvPr/>
        </p:nvSpPr>
        <p:spPr>
          <a:xfrm>
            <a:off x="793790" y="4128849"/>
            <a:ext cx="7556421" cy="362903"/>
          </a:xfrm>
          <a:prstGeom prst="rect">
            <a:avLst/>
          </a:prstGeom>
          <a:noFill/>
          <a:ln/>
        </p:spPr>
        <p:txBody>
          <a:bodyPr wrap="none" lIns="0" tIns="0" rIns="0" bIns="0" rtlCol="0" anchor="t"/>
          <a:lstStyle/>
          <a:p>
            <a:pPr marL="0" indent="0" algn="l">
              <a:lnSpc>
                <a:spcPts val="2850"/>
              </a:lnSpc>
              <a:buNone/>
            </a:pPr>
            <a:r>
              <a:rPr lang="en-US" sz="1750" dirty="0">
                <a:solidFill>
                  <a:srgbClr val="272525"/>
                </a:solidFill>
                <a:latin typeface="Inter" pitchFamily="34" charset="0"/>
                <a:ea typeface="Inter" pitchFamily="34" charset="-122"/>
                <a:cs typeface="Inter" pitchFamily="34" charset="-120"/>
              </a:rPr>
              <a:t>Trình bày bởi: </a:t>
            </a:r>
            <a:r>
              <a:rPr lang="en-US" sz="1750">
                <a:solidFill>
                  <a:srgbClr val="FD505F"/>
                </a:solidFill>
                <a:latin typeface="Inter" pitchFamily="34" charset="0"/>
                <a:ea typeface="Inter" pitchFamily="34" charset="-122"/>
                <a:cs typeface="Inter" pitchFamily="34" charset="-120"/>
              </a:rPr>
              <a:t>Nhóm 3</a:t>
            </a:r>
            <a:endParaRPr lang="en-US" sz="1750" dirty="0"/>
          </a:p>
        </p:txBody>
      </p:sp>
      <p:sp>
        <p:nvSpPr>
          <p:cNvPr id="6" name="Text 3"/>
          <p:cNvSpPr/>
          <p:nvPr/>
        </p:nvSpPr>
        <p:spPr>
          <a:xfrm>
            <a:off x="793790" y="4746903"/>
            <a:ext cx="9239896" cy="1088774"/>
          </a:xfrm>
          <a:prstGeom prst="rect">
            <a:avLst/>
          </a:prstGeom>
          <a:noFill/>
          <a:ln/>
        </p:spPr>
        <p:txBody>
          <a:bodyPr wrap="square" lIns="0" tIns="0" rIns="0" bIns="0" numCol="3" rtlCol="0" anchor="t"/>
          <a:lstStyle/>
          <a:p>
            <a:pPr marL="342900" indent="-342900" algn="l">
              <a:lnSpc>
                <a:spcPts val="2850"/>
              </a:lnSpc>
              <a:buSzPct val="100000"/>
              <a:buChar char="•"/>
            </a:pPr>
            <a:r>
              <a:rPr lang="en-US" sz="1600">
                <a:solidFill>
                  <a:srgbClr val="272525"/>
                </a:solidFill>
                <a:latin typeface="Inter" pitchFamily="34" charset="0"/>
                <a:ea typeface="Inter" pitchFamily="34" charset="-122"/>
              </a:rPr>
              <a:t>Lê Phú Toàn (nhóm trưởng)</a:t>
            </a:r>
          </a:p>
          <a:p>
            <a:pPr marL="342900" indent="-342900" algn="l">
              <a:lnSpc>
                <a:spcPts val="2850"/>
              </a:lnSpc>
              <a:buSzPct val="100000"/>
              <a:buChar char="•"/>
            </a:pPr>
            <a:r>
              <a:rPr lang="en-US" sz="1600">
                <a:solidFill>
                  <a:srgbClr val="272525"/>
                </a:solidFill>
                <a:latin typeface="Inter" pitchFamily="34" charset="0"/>
                <a:ea typeface="Inter" pitchFamily="34" charset="-122"/>
              </a:rPr>
              <a:t>Phạm Phương Anh</a:t>
            </a:r>
          </a:p>
          <a:p>
            <a:pPr marL="342900" indent="-342900" algn="l">
              <a:lnSpc>
                <a:spcPts val="2850"/>
              </a:lnSpc>
              <a:buSzPct val="100000"/>
              <a:buChar char="•"/>
            </a:pPr>
            <a:r>
              <a:rPr lang="en-US" sz="1600">
                <a:solidFill>
                  <a:srgbClr val="272525"/>
                </a:solidFill>
                <a:latin typeface="Inter" pitchFamily="34" charset="0"/>
                <a:ea typeface="Inter" pitchFamily="34" charset="-122"/>
              </a:rPr>
              <a:t>Lê Phương Linh</a:t>
            </a:r>
          </a:p>
          <a:p>
            <a:pPr marL="342900" indent="-342900" algn="l">
              <a:lnSpc>
                <a:spcPts val="2850"/>
              </a:lnSpc>
              <a:buSzPct val="100000"/>
              <a:buChar char="•"/>
            </a:pPr>
            <a:r>
              <a:rPr lang="en-US" sz="1600">
                <a:solidFill>
                  <a:srgbClr val="272525"/>
                </a:solidFill>
                <a:latin typeface="Inter" pitchFamily="34" charset="0"/>
                <a:ea typeface="Inter" pitchFamily="34" charset="-122"/>
              </a:rPr>
              <a:t>Trần Đăng Việt</a:t>
            </a:r>
          </a:p>
          <a:p>
            <a:pPr marL="342900" indent="-342900" algn="l">
              <a:lnSpc>
                <a:spcPts val="2850"/>
              </a:lnSpc>
              <a:buSzPct val="100000"/>
              <a:buChar char="•"/>
            </a:pPr>
            <a:r>
              <a:rPr lang="en-US" sz="1600">
                <a:solidFill>
                  <a:srgbClr val="272525"/>
                </a:solidFill>
                <a:latin typeface="Inter" pitchFamily="34" charset="0"/>
                <a:ea typeface="Inter" pitchFamily="34" charset="-122"/>
              </a:rPr>
              <a:t>Lê Duy Minh</a:t>
            </a:r>
            <a:endParaRPr lang="en-US" sz="1600" dirty="0"/>
          </a:p>
          <a:p>
            <a:pPr marL="342900" indent="-342900" algn="l">
              <a:lnSpc>
                <a:spcPts val="2850"/>
              </a:lnSpc>
              <a:buSzPct val="100000"/>
              <a:buChar char="•"/>
            </a:pPr>
            <a:r>
              <a:rPr lang="en-US" sz="1600">
                <a:solidFill>
                  <a:srgbClr val="272525"/>
                </a:solidFill>
                <a:latin typeface="Inter" pitchFamily="34" charset="0"/>
                <a:ea typeface="Inter" pitchFamily="34" charset="-122"/>
                <a:cs typeface="Inter" pitchFamily="34" charset="-120"/>
              </a:rPr>
              <a:t>Lê Tiến Đức</a:t>
            </a:r>
          </a:p>
          <a:p>
            <a:pPr marL="342900" indent="-342900" algn="l">
              <a:lnSpc>
                <a:spcPts val="2850"/>
              </a:lnSpc>
              <a:buSzPct val="100000"/>
              <a:buChar char="•"/>
            </a:pPr>
            <a:r>
              <a:rPr lang="en-US" sz="1600">
                <a:solidFill>
                  <a:srgbClr val="272525"/>
                </a:solidFill>
                <a:latin typeface="Inter" pitchFamily="34" charset="0"/>
                <a:ea typeface="Inter" pitchFamily="34" charset="-122"/>
                <a:cs typeface="Inter" pitchFamily="34" charset="-120"/>
              </a:rPr>
              <a:t>Phùng Văn Vượng</a:t>
            </a:r>
          </a:p>
          <a:p>
            <a:pPr marL="342900" indent="-342900" algn="l">
              <a:lnSpc>
                <a:spcPts val="2850"/>
              </a:lnSpc>
              <a:buSzPct val="100000"/>
              <a:buChar char="•"/>
            </a:pPr>
            <a:r>
              <a:rPr lang="en-US" sz="1600">
                <a:solidFill>
                  <a:srgbClr val="272525"/>
                </a:solidFill>
                <a:latin typeface="Inter" pitchFamily="34" charset="0"/>
                <a:ea typeface="Inter" pitchFamily="34" charset="-122"/>
                <a:cs typeface="Inter" pitchFamily="34" charset="-120"/>
              </a:rPr>
              <a:t>Bùi Minh Vũ</a:t>
            </a:r>
          </a:p>
        </p:txBody>
      </p:sp>
      <p:sp>
        <p:nvSpPr>
          <p:cNvPr id="7" name="Text 4"/>
          <p:cNvSpPr/>
          <p:nvPr/>
        </p:nvSpPr>
        <p:spPr>
          <a:xfrm>
            <a:off x="793790" y="6090828"/>
            <a:ext cx="7556421" cy="1088708"/>
          </a:xfrm>
          <a:prstGeom prst="rect">
            <a:avLst/>
          </a:prstGeom>
          <a:noFill/>
          <a:ln/>
        </p:spPr>
        <p:txBody>
          <a:bodyPr wrap="square" lIns="0" tIns="0" rIns="0" bIns="0" rtlCol="0" anchor="t"/>
          <a:lstStyle/>
          <a:p>
            <a:pPr marL="0" indent="0" algn="l">
              <a:lnSpc>
                <a:spcPts val="2850"/>
              </a:lnSpc>
              <a:buNone/>
            </a:pPr>
            <a:r>
              <a:rPr lang="en-US" sz="1750" dirty="0">
                <a:solidFill>
                  <a:srgbClr val="272525"/>
                </a:solidFill>
                <a:latin typeface="Inter" pitchFamily="34" charset="0"/>
                <a:ea typeface="Inter" pitchFamily="34" charset="-122"/>
                <a:cs typeface="Inter" pitchFamily="34" charset="-120"/>
              </a:rPr>
              <a:t>Giảng viên hướng dẫn: </a:t>
            </a:r>
            <a:endParaRPr lang="en-US" sz="1750" dirty="0"/>
          </a:p>
          <a:p>
            <a:pPr marL="0" indent="0" algn="l">
              <a:lnSpc>
                <a:spcPts val="2850"/>
              </a:lnSpc>
              <a:buNone/>
            </a:pPr>
            <a:r>
              <a:rPr lang="en-US" sz="1750" dirty="0">
                <a:solidFill>
                  <a:srgbClr val="272525"/>
                </a:solidFill>
                <a:latin typeface="Inter" pitchFamily="34" charset="0"/>
                <a:ea typeface="Inter" pitchFamily="34" charset="-122"/>
                <a:cs typeface="Inter" pitchFamily="34" charset="-120"/>
              </a:rPr>
              <a:t>Thầy Nguyễn </a:t>
            </a:r>
            <a:r>
              <a:rPr lang="en-US" sz="1750">
                <a:solidFill>
                  <a:srgbClr val="272525"/>
                </a:solidFill>
                <a:latin typeface="Inter" pitchFamily="34" charset="0"/>
                <a:ea typeface="Inter" pitchFamily="34" charset="-122"/>
                <a:cs typeface="Inter" pitchFamily="34" charset="-120"/>
              </a:rPr>
              <a:t>Công Hưởng</a:t>
            </a:r>
          </a:p>
          <a:p>
            <a:pPr marL="0" indent="0" algn="l">
              <a:lnSpc>
                <a:spcPts val="2850"/>
              </a:lnSpc>
              <a:buNone/>
            </a:pPr>
            <a:r>
              <a:rPr lang="en-US" sz="1750">
                <a:solidFill>
                  <a:srgbClr val="272525"/>
                </a:solidFill>
                <a:latin typeface="Inter" pitchFamily="34" charset="0"/>
                <a:ea typeface="Inter" pitchFamily="34" charset="-122"/>
                <a:cs typeface="Inter" pitchFamily="34" charset="-120"/>
              </a:rPr>
              <a:t>Thầy Lê Thanh Hải</a:t>
            </a:r>
            <a:endParaRPr lang="en-US" sz="1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806838" y="606360"/>
            <a:ext cx="4920377" cy="480060"/>
          </a:xfrm>
          <a:prstGeom prst="rect">
            <a:avLst/>
          </a:prstGeom>
          <a:noFill/>
          <a:ln/>
        </p:spPr>
        <p:txBody>
          <a:bodyPr wrap="none" lIns="0" tIns="0" rIns="0" bIns="0" rtlCol="0" anchor="t"/>
          <a:lstStyle/>
          <a:p>
            <a:pPr marL="0" indent="0" algn="l">
              <a:lnSpc>
                <a:spcPts val="3750"/>
              </a:lnSpc>
              <a:buNone/>
            </a:pPr>
            <a:r>
              <a:rPr lang="en-US" sz="3600" b="1" dirty="0">
                <a:solidFill>
                  <a:srgbClr val="F95F88"/>
                </a:solidFill>
                <a:latin typeface="Arial" panose="020B0604020202020204" pitchFamily="34" charset="0"/>
                <a:ea typeface="Petrona Bold" pitchFamily="34" charset="-122"/>
                <a:cs typeface="Arial" panose="020B0604020202020204" pitchFamily="34" charset="0"/>
              </a:rPr>
              <a:t>Đặt vấn đề &amp; Mục tiêu dự án</a:t>
            </a:r>
            <a:endParaRPr lang="en-US" sz="3600" dirty="0">
              <a:latin typeface="Arial" panose="020B0604020202020204" pitchFamily="34" charset="0"/>
              <a:cs typeface="Arial" panose="020B0604020202020204" pitchFamily="34" charset="0"/>
            </a:endParaRPr>
          </a:p>
        </p:txBody>
      </p:sp>
      <p:sp>
        <p:nvSpPr>
          <p:cNvPr id="3" name="Text 1"/>
          <p:cNvSpPr/>
          <p:nvPr/>
        </p:nvSpPr>
        <p:spPr>
          <a:xfrm>
            <a:off x="787252" y="1485255"/>
            <a:ext cx="2304455" cy="288131"/>
          </a:xfrm>
          <a:prstGeom prst="rect">
            <a:avLst/>
          </a:prstGeom>
          <a:noFill/>
          <a:ln/>
        </p:spPr>
        <p:txBody>
          <a:bodyPr wrap="none" lIns="0" tIns="0" rIns="0" bIns="0" rtlCol="0" anchor="t"/>
          <a:lstStyle/>
          <a:p>
            <a:pPr marL="0" indent="0" algn="l">
              <a:lnSpc>
                <a:spcPts val="2250"/>
              </a:lnSpc>
              <a:buNone/>
            </a:pPr>
            <a:r>
              <a:rPr lang="en-US" sz="2400" b="1">
                <a:solidFill>
                  <a:srgbClr val="F95F88"/>
                </a:solidFill>
                <a:latin typeface="Arial" panose="020B0604020202020204" pitchFamily="34" charset="0"/>
                <a:ea typeface="Petrona Bold" pitchFamily="34" charset="-122"/>
                <a:cs typeface="Arial" panose="020B0604020202020204" pitchFamily="34" charset="0"/>
              </a:rPr>
              <a:t>Bối cảnh &amp; vấn đề</a:t>
            </a:r>
            <a:endParaRPr lang="en-US" sz="2400" dirty="0">
              <a:latin typeface="Arial" panose="020B0604020202020204" pitchFamily="34" charset="0"/>
              <a:cs typeface="Arial" panose="020B0604020202020204" pitchFamily="34" charset="0"/>
            </a:endParaRPr>
          </a:p>
        </p:txBody>
      </p:sp>
      <p:sp>
        <p:nvSpPr>
          <p:cNvPr id="4" name="Text 2"/>
          <p:cNvSpPr/>
          <p:nvPr/>
        </p:nvSpPr>
        <p:spPr>
          <a:xfrm>
            <a:off x="787252" y="1859350"/>
            <a:ext cx="4648081" cy="3255859"/>
          </a:xfrm>
          <a:prstGeom prst="rect">
            <a:avLst/>
          </a:prstGeom>
          <a:noFill/>
          <a:ln/>
        </p:spPr>
        <p:txBody>
          <a:bodyPr wrap="square" lIns="0" tIns="0" rIns="0" bIns="0" rtlCol="0" anchor="t"/>
          <a:lstStyle/>
          <a:p>
            <a:pPr>
              <a:lnSpc>
                <a:spcPct val="150000"/>
              </a:lnSpc>
            </a:pPr>
            <a:r>
              <a:rPr lang="vi-VN" sz="1200">
                <a:solidFill>
                  <a:srgbClr val="272525"/>
                </a:solidFill>
                <a:latin typeface="Inter" pitchFamily="34" charset="0"/>
                <a:ea typeface="Inter" pitchFamily="34" charset="-122"/>
                <a:cs typeface="Inter" pitchFamily="34" charset="-120"/>
              </a:rPr>
              <a:t>Nhiều học sinh sau khi học xong các kiến thức cơ bản về Java và OOP (class, object, constructor, mảng, if/else, vòng lặp) vẫn gặp khó khăn khi áp dụng vào một chương trình hoàn chỉnh.</a:t>
            </a:r>
          </a:p>
          <a:p>
            <a:pPr>
              <a:lnSpc>
                <a:spcPct val="150000"/>
              </a:lnSpc>
            </a:pPr>
            <a:r>
              <a:rPr lang="vi-VN" sz="1200">
                <a:solidFill>
                  <a:srgbClr val="272525"/>
                </a:solidFill>
                <a:latin typeface="Inter" pitchFamily="34" charset="0"/>
                <a:ea typeface="Inter" pitchFamily="34" charset="-122"/>
                <a:cs typeface="Inter" pitchFamily="34" charset="-120"/>
              </a:rPr>
              <a:t>Các lỗi phổ biến bao gồm:</a:t>
            </a:r>
          </a:p>
          <a:p>
            <a:pPr marL="628650" lvl="1" indent="-171450">
              <a:lnSpc>
                <a:spcPct val="150000"/>
              </a:lnSpc>
              <a:buFont typeface="Arial" panose="020B0604020202020204" pitchFamily="34" charset="0"/>
              <a:buChar char="•"/>
            </a:pPr>
            <a:r>
              <a:rPr lang="vi-VN" sz="1200">
                <a:solidFill>
                  <a:srgbClr val="272525"/>
                </a:solidFill>
                <a:latin typeface="Inter" pitchFamily="34" charset="0"/>
                <a:ea typeface="Inter" pitchFamily="34" charset="-122"/>
                <a:cs typeface="Inter" pitchFamily="34" charset="-120"/>
              </a:rPr>
              <a:t>Chưa hiểu rõ cách thiết kế lớp và tổ chức chương trình theo hướng đối tượng.</a:t>
            </a:r>
          </a:p>
          <a:p>
            <a:pPr marL="628650" lvl="1" indent="-171450">
              <a:lnSpc>
                <a:spcPct val="150000"/>
              </a:lnSpc>
              <a:buFont typeface="Arial" panose="020B0604020202020204" pitchFamily="34" charset="0"/>
              <a:buChar char="•"/>
            </a:pPr>
            <a:r>
              <a:rPr lang="vi-VN" sz="1200">
                <a:solidFill>
                  <a:srgbClr val="272525"/>
                </a:solidFill>
                <a:latin typeface="Inter" pitchFamily="34" charset="0"/>
                <a:ea typeface="Inter" pitchFamily="34" charset="-122"/>
                <a:cs typeface="Inter" pitchFamily="34" charset="-120"/>
              </a:rPr>
              <a:t>Lúng túng khi thao tác với mảng đối tượng (thêm, xóa, sửa, tìm kiếm).</a:t>
            </a:r>
          </a:p>
          <a:p>
            <a:pPr marL="628650" lvl="1" indent="-171450">
              <a:lnSpc>
                <a:spcPct val="150000"/>
              </a:lnSpc>
              <a:buFont typeface="Arial" panose="020B0604020202020204" pitchFamily="34" charset="0"/>
              <a:buChar char="•"/>
            </a:pPr>
            <a:r>
              <a:rPr lang="vi-VN" sz="1200">
                <a:solidFill>
                  <a:srgbClr val="272525"/>
                </a:solidFill>
                <a:latin typeface="Inter" pitchFamily="34" charset="0"/>
                <a:ea typeface="Inter" pitchFamily="34" charset="-122"/>
                <a:cs typeface="Inter" pitchFamily="34" charset="-120"/>
              </a:rPr>
              <a:t>Chưa quen xây dựng chương trình có menu tương tác, luồng xử lý rõ ràng.</a:t>
            </a:r>
          </a:p>
          <a:p>
            <a:pPr marL="628650" lvl="1" indent="-171450">
              <a:lnSpc>
                <a:spcPct val="150000"/>
              </a:lnSpc>
              <a:buFont typeface="Arial" panose="020B0604020202020204" pitchFamily="34" charset="0"/>
              <a:buChar char="•"/>
            </a:pPr>
            <a:r>
              <a:rPr lang="vi-VN" sz="1200">
                <a:solidFill>
                  <a:srgbClr val="272525"/>
                </a:solidFill>
                <a:latin typeface="Inter" pitchFamily="34" charset="0"/>
                <a:ea typeface="Inter" pitchFamily="34" charset="-122"/>
                <a:cs typeface="Inter" pitchFamily="34" charset="-120"/>
              </a:rPr>
              <a:t>Code rời rạc, thiếu cấu trúc, khó mở rộng và bảo trì.</a:t>
            </a:r>
          </a:p>
          <a:p>
            <a:pPr marL="628650" lvl="1" indent="-171450">
              <a:lnSpc>
                <a:spcPct val="150000"/>
              </a:lnSpc>
              <a:buFont typeface="Arial" panose="020B0604020202020204" pitchFamily="34" charset="0"/>
              <a:buChar char="•"/>
            </a:pPr>
            <a:r>
              <a:rPr lang="vi-VN" sz="1200">
                <a:solidFill>
                  <a:srgbClr val="272525"/>
                </a:solidFill>
                <a:latin typeface="Inter" pitchFamily="34" charset="0"/>
                <a:ea typeface="Inter" pitchFamily="34" charset="-122"/>
                <a:cs typeface="Inter" pitchFamily="34" charset="-120"/>
              </a:rPr>
              <a:t>Ít cơ hội tiếp cận bài toán quản lý thực tế thay vì ví dụ nhỏ lẻ.</a:t>
            </a:r>
          </a:p>
          <a:p>
            <a:pPr>
              <a:lnSpc>
                <a:spcPct val="150000"/>
              </a:lnSpc>
            </a:pPr>
            <a:r>
              <a:rPr lang="vi-VN" sz="1200">
                <a:solidFill>
                  <a:srgbClr val="272525"/>
                </a:solidFill>
                <a:latin typeface="Inter" pitchFamily="34" charset="0"/>
                <a:ea typeface="Inter" pitchFamily="34" charset="-122"/>
                <a:cs typeface="Inter" pitchFamily="34" charset="-120"/>
              </a:rPr>
              <a:t>Điều này làm cho việc học OOP trở nên nặng lý thuyết và khó hình dung trong ứng dụng thực tế.</a:t>
            </a:r>
            <a:endParaRPr lang="en-US" sz="1200" dirty="0"/>
          </a:p>
        </p:txBody>
      </p:sp>
      <p:sp>
        <p:nvSpPr>
          <p:cNvPr id="6" name="Text 3"/>
          <p:cNvSpPr/>
          <p:nvPr/>
        </p:nvSpPr>
        <p:spPr>
          <a:xfrm>
            <a:off x="7295614" y="1485255"/>
            <a:ext cx="2304455" cy="288131"/>
          </a:xfrm>
          <a:prstGeom prst="rect">
            <a:avLst/>
          </a:prstGeom>
          <a:noFill/>
          <a:ln/>
        </p:spPr>
        <p:txBody>
          <a:bodyPr wrap="none" lIns="0" tIns="0" rIns="0" bIns="0" rtlCol="0" anchor="t"/>
          <a:lstStyle/>
          <a:p>
            <a:pPr marL="0" indent="0" algn="l">
              <a:lnSpc>
                <a:spcPts val="2250"/>
              </a:lnSpc>
              <a:buNone/>
            </a:pPr>
            <a:r>
              <a:rPr lang="en-US" sz="2400" b="1" dirty="0">
                <a:solidFill>
                  <a:srgbClr val="F95F88"/>
                </a:solidFill>
                <a:latin typeface="Arial" panose="020B0604020202020204" pitchFamily="34" charset="0"/>
                <a:ea typeface="Petrona Bold" pitchFamily="34" charset="-122"/>
                <a:cs typeface="Arial" panose="020B0604020202020204" pitchFamily="34" charset="0"/>
              </a:rPr>
              <a:t>Giải pháp</a:t>
            </a:r>
            <a:endParaRPr lang="en-US" sz="2400" dirty="0">
              <a:latin typeface="Arial" panose="020B0604020202020204" pitchFamily="34" charset="0"/>
              <a:cs typeface="Arial" panose="020B0604020202020204" pitchFamily="34" charset="0"/>
            </a:endParaRPr>
          </a:p>
        </p:txBody>
      </p:sp>
      <p:sp>
        <p:nvSpPr>
          <p:cNvPr id="7" name="Text 4"/>
          <p:cNvSpPr/>
          <p:nvPr/>
        </p:nvSpPr>
        <p:spPr>
          <a:xfrm>
            <a:off x="7295614" y="1859350"/>
            <a:ext cx="4648081" cy="2748070"/>
          </a:xfrm>
          <a:prstGeom prst="rect">
            <a:avLst/>
          </a:prstGeom>
          <a:noFill/>
          <a:ln/>
        </p:spPr>
        <p:txBody>
          <a:bodyPr wrap="square" lIns="0" tIns="0" rIns="0" bIns="0" rtlCol="0" anchor="t"/>
          <a:lstStyle/>
          <a:p>
            <a:pPr>
              <a:lnSpc>
                <a:spcPct val="150000"/>
              </a:lnSpc>
            </a:pPr>
            <a:r>
              <a:rPr lang="vi-VN" sz="1200">
                <a:solidFill>
                  <a:srgbClr val="272525"/>
                </a:solidFill>
                <a:latin typeface="Inter" pitchFamily="34" charset="0"/>
                <a:ea typeface="Inter" pitchFamily="34" charset="-122"/>
                <a:cs typeface="Inter" pitchFamily="34" charset="-120"/>
              </a:rPr>
              <a:t>Xây dựng một ứng dụng Java Console – Quản lý Sinh Viên, hoạt động theo menu, cho phép người dùng thực hiện đầy đủ các chức năng:</a:t>
            </a:r>
          </a:p>
          <a:p>
            <a:pPr marL="628650" lvl="1" indent="-171450">
              <a:lnSpc>
                <a:spcPct val="150000"/>
              </a:lnSpc>
              <a:buFont typeface="Arial" panose="020B0604020202020204" pitchFamily="34" charset="0"/>
              <a:buChar char="•"/>
            </a:pPr>
            <a:r>
              <a:rPr lang="vi-VN" sz="1200">
                <a:solidFill>
                  <a:srgbClr val="272525"/>
                </a:solidFill>
                <a:latin typeface="Inter" pitchFamily="34" charset="0"/>
                <a:ea typeface="Inter" pitchFamily="34" charset="-122"/>
                <a:cs typeface="Inter" pitchFamily="34" charset="-120"/>
              </a:rPr>
              <a:t>Thêm, hiển thị, tìm kiếm, cập nhật và xóa sinh viên (CRUD).</a:t>
            </a:r>
          </a:p>
          <a:p>
            <a:pPr marL="628650" lvl="1" indent="-171450">
              <a:lnSpc>
                <a:spcPct val="150000"/>
              </a:lnSpc>
              <a:buFont typeface="Arial" panose="020B0604020202020204" pitchFamily="34" charset="0"/>
              <a:buChar char="•"/>
            </a:pPr>
            <a:r>
              <a:rPr lang="vi-VN" sz="1200">
                <a:solidFill>
                  <a:srgbClr val="272525"/>
                </a:solidFill>
                <a:latin typeface="Inter" pitchFamily="34" charset="0"/>
                <a:ea typeface="Inter" pitchFamily="34" charset="-122"/>
                <a:cs typeface="Inter" pitchFamily="34" charset="-120"/>
              </a:rPr>
              <a:t>Tính điểm trung bình và xếp loại sinh viên.</a:t>
            </a:r>
          </a:p>
          <a:p>
            <a:pPr marL="628650" lvl="1" indent="-171450">
              <a:lnSpc>
                <a:spcPct val="150000"/>
              </a:lnSpc>
              <a:buFont typeface="Arial" panose="020B0604020202020204" pitchFamily="34" charset="0"/>
              <a:buChar char="•"/>
            </a:pPr>
            <a:r>
              <a:rPr lang="vi-VN" sz="1200">
                <a:solidFill>
                  <a:srgbClr val="272525"/>
                </a:solidFill>
                <a:latin typeface="Inter" pitchFamily="34" charset="0"/>
                <a:ea typeface="Inter" pitchFamily="34" charset="-122"/>
                <a:cs typeface="Inter" pitchFamily="34" charset="-120"/>
              </a:rPr>
              <a:t>Sắp xếp danh sách sinh viên theo nhiều tiêu chí.</a:t>
            </a:r>
          </a:p>
          <a:p>
            <a:pPr marL="628650" lvl="1" indent="-171450">
              <a:lnSpc>
                <a:spcPct val="150000"/>
              </a:lnSpc>
              <a:buFont typeface="Arial" panose="020B0604020202020204" pitchFamily="34" charset="0"/>
              <a:buChar char="•"/>
            </a:pPr>
            <a:r>
              <a:rPr lang="vi-VN" sz="1200">
                <a:solidFill>
                  <a:srgbClr val="272525"/>
                </a:solidFill>
                <a:latin typeface="Inter" pitchFamily="34" charset="0"/>
                <a:ea typeface="Inter" pitchFamily="34" charset="-122"/>
                <a:cs typeface="Inter" pitchFamily="34" charset="-120"/>
              </a:rPr>
              <a:t>Thống kê và báo cáo dữ liệu sinh viên.</a:t>
            </a:r>
          </a:p>
          <a:p>
            <a:pPr>
              <a:lnSpc>
                <a:spcPct val="150000"/>
              </a:lnSpc>
            </a:pPr>
            <a:r>
              <a:rPr lang="vi-VN" sz="1200">
                <a:solidFill>
                  <a:srgbClr val="272525"/>
                </a:solidFill>
                <a:latin typeface="Inter" pitchFamily="34" charset="0"/>
                <a:ea typeface="Inter" pitchFamily="34" charset="-122"/>
                <a:cs typeface="Inter" pitchFamily="34" charset="-120"/>
              </a:rPr>
              <a:t>Ứng dụng áp dụng đầy đủ các kiến thức OOP kết hợp mảng đối tượng, thuật toán cơ bản và xử lý nhập liệu, giúp người học rèn luyện quy trình:</a:t>
            </a:r>
          </a:p>
          <a:p>
            <a:pPr>
              <a:lnSpc>
                <a:spcPct val="150000"/>
              </a:lnSpc>
            </a:pPr>
            <a:r>
              <a:rPr lang="vi-VN" sz="1200">
                <a:solidFill>
                  <a:srgbClr val="272525"/>
                </a:solidFill>
                <a:latin typeface="Inter" pitchFamily="34" charset="0"/>
                <a:ea typeface="Inter" pitchFamily="34" charset="-122"/>
                <a:cs typeface="Inter" pitchFamily="34" charset="-120"/>
              </a:rPr>
              <a:t>nhập dữ liệu → xử lý logic → hiển thị kết quả → quay lại menu.</a:t>
            </a:r>
            <a:endParaRPr lang="en-US" sz="1200" dirty="0"/>
          </a:p>
        </p:txBody>
      </p:sp>
      <p:sp>
        <p:nvSpPr>
          <p:cNvPr id="9" name="Shape 5"/>
          <p:cNvSpPr/>
          <p:nvPr/>
        </p:nvSpPr>
        <p:spPr>
          <a:xfrm>
            <a:off x="787252" y="6388885"/>
            <a:ext cx="45719" cy="1227235"/>
          </a:xfrm>
          <a:prstGeom prst="rect">
            <a:avLst/>
          </a:prstGeom>
          <a:solidFill>
            <a:srgbClr val="6237C8"/>
          </a:solidFill>
          <a:ln/>
        </p:spPr>
        <p:txBody>
          <a:bodyPr/>
          <a:lstStyle/>
          <a:p>
            <a:endParaRPr lang="vi-VN"/>
          </a:p>
        </p:txBody>
      </p:sp>
      <p:sp>
        <p:nvSpPr>
          <p:cNvPr id="10" name="Text 6"/>
          <p:cNvSpPr/>
          <p:nvPr/>
        </p:nvSpPr>
        <p:spPr>
          <a:xfrm>
            <a:off x="972633" y="6404126"/>
            <a:ext cx="1920359" cy="240030"/>
          </a:xfrm>
          <a:prstGeom prst="rect">
            <a:avLst/>
          </a:prstGeom>
          <a:noFill/>
          <a:ln/>
        </p:spPr>
        <p:txBody>
          <a:bodyPr wrap="none" lIns="0" tIns="0" rIns="0" bIns="0" rtlCol="0" anchor="t"/>
          <a:lstStyle/>
          <a:p>
            <a:pPr marL="0" indent="0" algn="l">
              <a:lnSpc>
                <a:spcPts val="1850"/>
              </a:lnSpc>
              <a:buNone/>
            </a:pPr>
            <a:r>
              <a:rPr lang="en-US" sz="1500" b="1" dirty="0">
                <a:solidFill>
                  <a:srgbClr val="272525"/>
                </a:solidFill>
                <a:latin typeface="Arial" panose="020B0604020202020204" pitchFamily="34" charset="0"/>
                <a:ea typeface="Petrona Bold" pitchFamily="34" charset="-122"/>
                <a:cs typeface="Arial" panose="020B0604020202020204" pitchFamily="34" charset="0"/>
              </a:rPr>
              <a:t>Mục tiêu dự án</a:t>
            </a:r>
            <a:endParaRPr lang="en-US" sz="1500" dirty="0">
              <a:latin typeface="Arial" panose="020B0604020202020204" pitchFamily="34" charset="0"/>
              <a:cs typeface="Arial" panose="020B0604020202020204" pitchFamily="34" charset="0"/>
            </a:endParaRPr>
          </a:p>
        </p:txBody>
      </p:sp>
      <p:sp>
        <p:nvSpPr>
          <p:cNvPr id="11" name="Text 7"/>
          <p:cNvSpPr/>
          <p:nvPr/>
        </p:nvSpPr>
        <p:spPr>
          <a:xfrm>
            <a:off x="972633" y="6695710"/>
            <a:ext cx="9466778" cy="683062"/>
          </a:xfrm>
          <a:prstGeom prst="rect">
            <a:avLst/>
          </a:prstGeom>
          <a:noFill/>
          <a:ln/>
        </p:spPr>
        <p:txBody>
          <a:bodyPr wrap="square" lIns="0" tIns="0" rIns="0" bIns="0" rtlCol="0" anchor="t"/>
          <a:lstStyle/>
          <a:p>
            <a:pPr>
              <a:lnSpc>
                <a:spcPct val="150000"/>
              </a:lnSpc>
            </a:pPr>
            <a:r>
              <a:rPr lang="vi-VN" sz="1050">
                <a:solidFill>
                  <a:srgbClr val="272525"/>
                </a:solidFill>
                <a:latin typeface="Inter" pitchFamily="34" charset="0"/>
                <a:ea typeface="Inter" pitchFamily="34" charset="-122"/>
                <a:cs typeface="Inter" pitchFamily="34" charset="-120"/>
              </a:rPr>
              <a:t>Dự án giúp củng cố và vận dụng lập trình hướng đối tượng trong Java vào bài toán thực tế, rèn luyện kỹ năng thao tác với mảng đối tượng và các cấu trúc điều khiển. Qua đó, sinh viên phát triển tư duy phân tích, thiết kế hệ thống, tổ chức mã nguồn rõ ràng và xây dựng chương trình console hoàn chỉnh, làm nền tảng cho các bài toán quản lý phức tạp hơn trong tương lai.</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4" name="Text 2"/>
          <p:cNvSpPr/>
          <p:nvPr/>
        </p:nvSpPr>
        <p:spPr>
          <a:xfrm>
            <a:off x="793790" y="544008"/>
            <a:ext cx="6237684" cy="779621"/>
          </a:xfrm>
          <a:prstGeom prst="rect">
            <a:avLst/>
          </a:prstGeom>
          <a:noFill/>
          <a:ln/>
        </p:spPr>
        <p:txBody>
          <a:bodyPr wrap="none" lIns="0" tIns="0" rIns="0" bIns="0" rtlCol="0" anchor="t"/>
          <a:lstStyle/>
          <a:p>
            <a:pPr marL="0" indent="0" algn="l">
              <a:lnSpc>
                <a:spcPts val="6100"/>
              </a:lnSpc>
              <a:buNone/>
            </a:pPr>
            <a:r>
              <a:rPr lang="en-US" sz="4900" b="1" dirty="0">
                <a:solidFill>
                  <a:srgbClr val="F95F88"/>
                </a:solidFill>
                <a:latin typeface="Petrona Bold" pitchFamily="34" charset="0"/>
                <a:ea typeface="Petrona Bold" pitchFamily="34" charset="-122"/>
                <a:cs typeface="Petrona Bold" pitchFamily="34" charset="-120"/>
              </a:rPr>
              <a:t>Phân công công việc</a:t>
            </a:r>
            <a:endParaRPr lang="en-US" sz="4900" dirty="0"/>
          </a:p>
        </p:txBody>
      </p:sp>
      <p:sp>
        <p:nvSpPr>
          <p:cNvPr id="5" name="Text 3"/>
          <p:cNvSpPr/>
          <p:nvPr/>
        </p:nvSpPr>
        <p:spPr>
          <a:xfrm>
            <a:off x="793790" y="2771537"/>
            <a:ext cx="13042821" cy="725805"/>
          </a:xfrm>
          <a:prstGeom prst="rect">
            <a:avLst/>
          </a:prstGeom>
          <a:noFill/>
          <a:ln/>
        </p:spPr>
        <p:txBody>
          <a:bodyPr wrap="square" lIns="0" tIns="0" rIns="0" bIns="0" rtlCol="0" anchor="t"/>
          <a:lstStyle/>
          <a:p>
            <a:pPr marL="0" indent="0" algn="l">
              <a:lnSpc>
                <a:spcPts val="2850"/>
              </a:lnSpc>
              <a:buNone/>
            </a:pPr>
            <a:endParaRPr lang="en-US" sz="1750" dirty="0"/>
          </a:p>
        </p:txBody>
      </p:sp>
      <p:graphicFrame>
        <p:nvGraphicFramePr>
          <p:cNvPr id="33" name="Bảng 32">
            <a:extLst>
              <a:ext uri="{FF2B5EF4-FFF2-40B4-BE49-F238E27FC236}">
                <a16:creationId xmlns:a16="http://schemas.microsoft.com/office/drawing/2014/main" id="{C64E3B59-6812-4053-F702-551118D569A5}"/>
              </a:ext>
            </a:extLst>
          </p:cNvPr>
          <p:cNvGraphicFramePr>
            <a:graphicFrameLocks noGrp="1"/>
          </p:cNvGraphicFramePr>
          <p:nvPr>
            <p:extLst>
              <p:ext uri="{D42A27DB-BD31-4B8C-83A1-F6EECF244321}">
                <p14:modId xmlns:p14="http://schemas.microsoft.com/office/powerpoint/2010/main" val="4233100776"/>
              </p:ext>
            </p:extLst>
          </p:nvPr>
        </p:nvGraphicFramePr>
        <p:xfrm>
          <a:off x="793790" y="1475266"/>
          <a:ext cx="12952692" cy="6048274"/>
        </p:xfrm>
        <a:graphic>
          <a:graphicData uri="http://schemas.openxmlformats.org/drawingml/2006/table">
            <a:tbl>
              <a:tblPr firstRow="1" bandRow="1">
                <a:tableStyleId>{F5AB1C69-6EDB-4FF4-983F-18BD219EF322}</a:tableStyleId>
              </a:tblPr>
              <a:tblGrid>
                <a:gridCol w="3238173">
                  <a:extLst>
                    <a:ext uri="{9D8B030D-6E8A-4147-A177-3AD203B41FA5}">
                      <a16:colId xmlns:a16="http://schemas.microsoft.com/office/drawing/2014/main" val="2320527315"/>
                    </a:ext>
                  </a:extLst>
                </a:gridCol>
                <a:gridCol w="3238173">
                  <a:extLst>
                    <a:ext uri="{9D8B030D-6E8A-4147-A177-3AD203B41FA5}">
                      <a16:colId xmlns:a16="http://schemas.microsoft.com/office/drawing/2014/main" val="1336846319"/>
                    </a:ext>
                  </a:extLst>
                </a:gridCol>
                <a:gridCol w="3238173">
                  <a:extLst>
                    <a:ext uri="{9D8B030D-6E8A-4147-A177-3AD203B41FA5}">
                      <a16:colId xmlns:a16="http://schemas.microsoft.com/office/drawing/2014/main" val="22430036"/>
                    </a:ext>
                  </a:extLst>
                </a:gridCol>
                <a:gridCol w="3238173">
                  <a:extLst>
                    <a:ext uri="{9D8B030D-6E8A-4147-A177-3AD203B41FA5}">
                      <a16:colId xmlns:a16="http://schemas.microsoft.com/office/drawing/2014/main" val="2581414869"/>
                    </a:ext>
                  </a:extLst>
                </a:gridCol>
              </a:tblGrid>
              <a:tr h="644437">
                <a:tc>
                  <a:txBody>
                    <a:bodyPr/>
                    <a:lstStyle/>
                    <a:p>
                      <a:r>
                        <a:rPr lang="en-US"/>
                        <a:t>Thành Viên</a:t>
                      </a:r>
                      <a:endParaRPr lang="vi-VN"/>
                    </a:p>
                  </a:txBody>
                  <a:tcPr/>
                </a:tc>
                <a:tc>
                  <a:txBody>
                    <a:bodyPr/>
                    <a:lstStyle/>
                    <a:p>
                      <a:r>
                        <a:rPr lang="en-US"/>
                        <a:t>Vai Trò</a:t>
                      </a:r>
                      <a:endParaRPr lang="vi-VN"/>
                    </a:p>
                  </a:txBody>
                  <a:tcPr/>
                </a:tc>
                <a:tc>
                  <a:txBody>
                    <a:bodyPr/>
                    <a:lstStyle/>
                    <a:p>
                      <a:r>
                        <a:rPr lang="en-US"/>
                        <a:t>Nhiệm Vụ Chính</a:t>
                      </a:r>
                      <a:endParaRPr lang="vi-VN"/>
                    </a:p>
                  </a:txBody>
                  <a:tcPr/>
                </a:tc>
                <a:tc>
                  <a:txBody>
                    <a:bodyPr/>
                    <a:lstStyle/>
                    <a:p>
                      <a:r>
                        <a:rPr lang="en-US"/>
                        <a:t>Mức độ hoàn thành</a:t>
                      </a:r>
                      <a:endParaRPr lang="vi-VN"/>
                    </a:p>
                  </a:txBody>
                  <a:tcPr/>
                </a:tc>
                <a:extLst>
                  <a:ext uri="{0D108BD9-81ED-4DB2-BD59-A6C34878D82A}">
                    <a16:rowId xmlns:a16="http://schemas.microsoft.com/office/drawing/2014/main" val="3192695707"/>
                  </a:ext>
                </a:extLst>
              </a:tr>
              <a:tr h="892778">
                <a:tc>
                  <a:txBody>
                    <a:bodyPr/>
                    <a:lstStyle/>
                    <a:p>
                      <a:r>
                        <a:rPr lang="en-US"/>
                        <a:t>Lê Phú Toàn</a:t>
                      </a:r>
                      <a:endParaRPr lang="vi-VN"/>
                    </a:p>
                  </a:txBody>
                  <a:tcPr/>
                </a:tc>
                <a:tc>
                  <a:txBody>
                    <a:bodyPr/>
                    <a:lstStyle/>
                    <a:p>
                      <a:r>
                        <a:rPr lang="en-US"/>
                        <a:t>Team Leader</a:t>
                      </a:r>
                      <a:endParaRPr lang="vi-VN"/>
                    </a:p>
                  </a:txBody>
                  <a:tcPr/>
                </a:tc>
                <a:tc>
                  <a:txBody>
                    <a:bodyPr/>
                    <a:lstStyle/>
                    <a:p>
                      <a:r>
                        <a:rPr lang="en-US"/>
                        <a:t>Dựng khung dự án, Merge Code, Làm Slide</a:t>
                      </a:r>
                      <a:endParaRPr lang="vi-VN"/>
                    </a:p>
                  </a:txBody>
                  <a:tcPr/>
                </a:tc>
                <a:tc>
                  <a:txBody>
                    <a:bodyPr/>
                    <a:lstStyle/>
                    <a:p>
                      <a:r>
                        <a:rPr lang="en-US"/>
                        <a:t>100%</a:t>
                      </a:r>
                      <a:endParaRPr lang="vi-VN"/>
                    </a:p>
                  </a:txBody>
                  <a:tcPr/>
                </a:tc>
                <a:extLst>
                  <a:ext uri="{0D108BD9-81ED-4DB2-BD59-A6C34878D82A}">
                    <a16:rowId xmlns:a16="http://schemas.microsoft.com/office/drawing/2014/main" val="2617993506"/>
                  </a:ext>
                </a:extLst>
              </a:tr>
              <a:tr h="6444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Phạm Phương Anh</a:t>
                      </a:r>
                      <a:endParaRPr lang="vi-VN"/>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a:solidFill>
                            <a:schemeClr val="dk1"/>
                          </a:solidFill>
                          <a:effectLst/>
                          <a:latin typeface="+mn-lt"/>
                          <a:ea typeface="+mn-ea"/>
                          <a:cs typeface="+mn-cs"/>
                        </a:rPr>
                        <a:t>Dev</a:t>
                      </a:r>
                      <a:endParaRPr lang="vi-VN"/>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200">
                          <a:solidFill>
                            <a:schemeClr val="dk1"/>
                          </a:solidFill>
                          <a:effectLst/>
                          <a:latin typeface="+mn-lt"/>
                          <a:ea typeface="+mn-ea"/>
                          <a:cs typeface="+mn-cs"/>
                        </a:rPr>
                        <a:t>[FR1]</a:t>
                      </a:r>
                      <a:endParaRPr lang="vi-VN">
                        <a:latin typeface="+mn-lt"/>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100%</a:t>
                      </a:r>
                      <a:endParaRPr lang="vi-VN"/>
                    </a:p>
                  </a:txBody>
                  <a:tcPr/>
                </a:tc>
                <a:extLst>
                  <a:ext uri="{0D108BD9-81ED-4DB2-BD59-A6C34878D82A}">
                    <a16:rowId xmlns:a16="http://schemas.microsoft.com/office/drawing/2014/main" val="2201567443"/>
                  </a:ext>
                </a:extLst>
              </a:tr>
              <a:tr h="644437">
                <a:tc>
                  <a:txBody>
                    <a:bodyPr/>
                    <a:lstStyle/>
                    <a:p>
                      <a:r>
                        <a:rPr lang="en-US"/>
                        <a:t>Lê Phương Linh</a:t>
                      </a:r>
                      <a:endParaRPr lang="vi-VN"/>
                    </a:p>
                  </a:txBody>
                  <a:tcPr/>
                </a:tc>
                <a:tc>
                  <a:txBody>
                    <a:bodyPr/>
                    <a:lstStyle/>
                    <a:p>
                      <a:r>
                        <a:rPr lang="en-US"/>
                        <a:t>Dev</a:t>
                      </a:r>
                      <a:endParaRPr lang="vi-VN"/>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200">
                          <a:solidFill>
                            <a:schemeClr val="dk1"/>
                          </a:solidFill>
                          <a:effectLst/>
                          <a:latin typeface="+mn-lt"/>
                          <a:ea typeface="+mn-ea"/>
                          <a:cs typeface="+mn-cs"/>
                        </a:rPr>
                        <a:t>[FR2]</a:t>
                      </a:r>
                    </a:p>
                  </a:txBody>
                  <a:tcPr/>
                </a:tc>
                <a:tc>
                  <a:txBody>
                    <a:bodyPr/>
                    <a:lstStyle/>
                    <a:p>
                      <a:r>
                        <a:rPr lang="en-US"/>
                        <a:t>100%</a:t>
                      </a:r>
                      <a:endParaRPr lang="vi-VN"/>
                    </a:p>
                  </a:txBody>
                  <a:tcPr/>
                </a:tc>
                <a:extLst>
                  <a:ext uri="{0D108BD9-81ED-4DB2-BD59-A6C34878D82A}">
                    <a16:rowId xmlns:a16="http://schemas.microsoft.com/office/drawing/2014/main" val="880552348"/>
                  </a:ext>
                </a:extLst>
              </a:tr>
              <a:tr h="644437">
                <a:tc>
                  <a:txBody>
                    <a:bodyPr/>
                    <a:lstStyle/>
                    <a:p>
                      <a:r>
                        <a:rPr lang="en-US"/>
                        <a:t>Trần Đăng Việt</a:t>
                      </a:r>
                    </a:p>
                  </a:txBody>
                  <a:tcPr/>
                </a:tc>
                <a:tc>
                  <a:txBody>
                    <a:bodyPr/>
                    <a:lstStyle/>
                    <a:p>
                      <a:r>
                        <a:rPr lang="en-US"/>
                        <a:t>Dev</a:t>
                      </a:r>
                      <a:endParaRPr lang="vi-VN"/>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200">
                          <a:solidFill>
                            <a:schemeClr val="dk1"/>
                          </a:solidFill>
                          <a:effectLst/>
                          <a:latin typeface="+mn-lt"/>
                          <a:ea typeface="+mn-ea"/>
                          <a:cs typeface="+mn-cs"/>
                        </a:rPr>
                        <a:t>[FR</a:t>
                      </a:r>
                      <a:r>
                        <a:rPr lang="en-US" sz="1800" kern="1200">
                          <a:solidFill>
                            <a:schemeClr val="dk1"/>
                          </a:solidFill>
                          <a:effectLst/>
                          <a:latin typeface="Arial" panose="020B0604020202020204" pitchFamily="34" charset="0"/>
                          <a:ea typeface="+mn-ea"/>
                          <a:cs typeface="Arial" panose="020B0604020202020204" pitchFamily="34" charset="0"/>
                        </a:rPr>
                        <a:t>3</a:t>
                      </a:r>
                      <a:r>
                        <a:rPr lang="vi-VN" sz="1800" kern="1200">
                          <a:solidFill>
                            <a:schemeClr val="dk1"/>
                          </a:solidFill>
                          <a:effectLst/>
                          <a:latin typeface="+mn-lt"/>
                          <a:ea typeface="+mn-ea"/>
                          <a:cs typeface="+mn-cs"/>
                        </a:rPr>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100%</a:t>
                      </a:r>
                      <a:endParaRPr lang="vi-VN"/>
                    </a:p>
                  </a:txBody>
                  <a:tcPr/>
                </a:tc>
                <a:extLst>
                  <a:ext uri="{0D108BD9-81ED-4DB2-BD59-A6C34878D82A}">
                    <a16:rowId xmlns:a16="http://schemas.microsoft.com/office/drawing/2014/main" val="2902675604"/>
                  </a:ext>
                </a:extLst>
              </a:tr>
              <a:tr h="644437">
                <a:tc>
                  <a:txBody>
                    <a:bodyPr/>
                    <a:lstStyle/>
                    <a:p>
                      <a:r>
                        <a:rPr lang="en-US"/>
                        <a:t>Lê Duy Minh</a:t>
                      </a:r>
                      <a:endParaRPr lang="vi-VN"/>
                    </a:p>
                  </a:txBody>
                  <a:tcPr/>
                </a:tc>
                <a:tc>
                  <a:txBody>
                    <a:bodyPr/>
                    <a:lstStyle/>
                    <a:p>
                      <a:r>
                        <a:rPr lang="en-US"/>
                        <a:t>Dev</a:t>
                      </a:r>
                      <a:endParaRPr lang="vi-VN"/>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200">
                          <a:solidFill>
                            <a:schemeClr val="dk1"/>
                          </a:solidFill>
                          <a:effectLst/>
                          <a:latin typeface="+mn-lt"/>
                          <a:ea typeface="+mn-ea"/>
                          <a:cs typeface="+mn-cs"/>
                        </a:rPr>
                        <a:t>[FR</a:t>
                      </a:r>
                      <a:r>
                        <a:rPr lang="en-US" sz="1800" kern="1200">
                          <a:solidFill>
                            <a:schemeClr val="dk1"/>
                          </a:solidFill>
                          <a:effectLst/>
                          <a:latin typeface="Arial" panose="020B0604020202020204" pitchFamily="34" charset="0"/>
                          <a:ea typeface="+mn-ea"/>
                          <a:cs typeface="Arial" panose="020B0604020202020204" pitchFamily="34" charset="0"/>
                        </a:rPr>
                        <a:t>4</a:t>
                      </a:r>
                      <a:r>
                        <a:rPr lang="vi-VN" sz="1800" kern="1200">
                          <a:solidFill>
                            <a:schemeClr val="dk1"/>
                          </a:solidFill>
                          <a:effectLst/>
                          <a:latin typeface="Arial" panose="020B0604020202020204" pitchFamily="34" charset="0"/>
                          <a:ea typeface="+mn-ea"/>
                          <a:cs typeface="Arial" panose="020B0604020202020204" pitchFamily="34" charset="0"/>
                        </a:rPr>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100%</a:t>
                      </a:r>
                      <a:endParaRPr lang="vi-VN"/>
                    </a:p>
                  </a:txBody>
                  <a:tcPr/>
                </a:tc>
                <a:extLst>
                  <a:ext uri="{0D108BD9-81ED-4DB2-BD59-A6C34878D82A}">
                    <a16:rowId xmlns:a16="http://schemas.microsoft.com/office/drawing/2014/main" val="398551681"/>
                  </a:ext>
                </a:extLst>
              </a:tr>
              <a:tr h="644437">
                <a:tc>
                  <a:txBody>
                    <a:bodyPr/>
                    <a:lstStyle/>
                    <a:p>
                      <a:r>
                        <a:rPr lang="en-US"/>
                        <a:t>Lê Tiến Đức</a:t>
                      </a:r>
                      <a:endParaRPr lang="vi-VN"/>
                    </a:p>
                  </a:txBody>
                  <a:tcPr/>
                </a:tc>
                <a:tc>
                  <a:txBody>
                    <a:bodyPr/>
                    <a:lstStyle/>
                    <a:p>
                      <a:r>
                        <a:rPr lang="en-US"/>
                        <a:t>Dev</a:t>
                      </a:r>
                      <a:endParaRPr lang="vi-VN"/>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200">
                          <a:solidFill>
                            <a:schemeClr val="dk1"/>
                          </a:solidFill>
                          <a:effectLst/>
                          <a:latin typeface="+mn-lt"/>
                          <a:ea typeface="+mn-ea"/>
                          <a:cs typeface="+mn-cs"/>
                        </a:rPr>
                        <a:t>[FR</a:t>
                      </a:r>
                      <a:r>
                        <a:rPr lang="en-US" sz="1800" kern="1200">
                          <a:solidFill>
                            <a:schemeClr val="dk1"/>
                          </a:solidFill>
                          <a:effectLst/>
                          <a:latin typeface="Arial" panose="020B0604020202020204" pitchFamily="34" charset="0"/>
                          <a:ea typeface="+mn-ea"/>
                          <a:cs typeface="Arial" panose="020B0604020202020204" pitchFamily="34" charset="0"/>
                        </a:rPr>
                        <a:t>5</a:t>
                      </a:r>
                      <a:r>
                        <a:rPr lang="vi-VN" sz="1800" kern="1200">
                          <a:solidFill>
                            <a:schemeClr val="dk1"/>
                          </a:solidFill>
                          <a:effectLst/>
                          <a:latin typeface="Arial" panose="020B0604020202020204" pitchFamily="34" charset="0"/>
                          <a:ea typeface="+mn-ea"/>
                          <a:cs typeface="Arial" panose="020B0604020202020204" pitchFamily="34" charset="0"/>
                        </a:rPr>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100%</a:t>
                      </a:r>
                      <a:endParaRPr lang="vi-VN"/>
                    </a:p>
                  </a:txBody>
                  <a:tcPr/>
                </a:tc>
                <a:extLst>
                  <a:ext uri="{0D108BD9-81ED-4DB2-BD59-A6C34878D82A}">
                    <a16:rowId xmlns:a16="http://schemas.microsoft.com/office/drawing/2014/main" val="2708072523"/>
                  </a:ext>
                </a:extLst>
              </a:tr>
              <a:tr h="644437">
                <a:tc>
                  <a:txBody>
                    <a:bodyPr/>
                    <a:lstStyle/>
                    <a:p>
                      <a:r>
                        <a:rPr lang="en-US"/>
                        <a:t>Bùi Minh Vũ</a:t>
                      </a:r>
                      <a:endParaRPr lang="vi-VN"/>
                    </a:p>
                  </a:txBody>
                  <a:tcPr/>
                </a:tc>
                <a:tc>
                  <a:txBody>
                    <a:bodyPr/>
                    <a:lstStyle/>
                    <a:p>
                      <a:r>
                        <a:rPr lang="en-US"/>
                        <a:t>Dev</a:t>
                      </a:r>
                      <a:endParaRPr lang="vi-VN"/>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200">
                          <a:solidFill>
                            <a:schemeClr val="dk1"/>
                          </a:solidFill>
                          <a:effectLst/>
                          <a:latin typeface="+mn-lt"/>
                          <a:ea typeface="+mn-ea"/>
                          <a:cs typeface="+mn-cs"/>
                        </a:rPr>
                        <a:t>[FR</a:t>
                      </a:r>
                      <a:r>
                        <a:rPr lang="en-US" sz="1800" kern="1200">
                          <a:solidFill>
                            <a:schemeClr val="dk1"/>
                          </a:solidFill>
                          <a:effectLst/>
                          <a:latin typeface="Arial" panose="020B0604020202020204" pitchFamily="34" charset="0"/>
                          <a:ea typeface="+mn-ea"/>
                          <a:cs typeface="Arial" panose="020B0604020202020204" pitchFamily="34" charset="0"/>
                        </a:rPr>
                        <a:t>6</a:t>
                      </a:r>
                      <a:r>
                        <a:rPr lang="vi-VN" sz="1800" kern="1200">
                          <a:solidFill>
                            <a:schemeClr val="dk1"/>
                          </a:solidFill>
                          <a:effectLst/>
                          <a:latin typeface="Arial" panose="020B0604020202020204" pitchFamily="34" charset="0"/>
                          <a:ea typeface="+mn-ea"/>
                          <a:cs typeface="Arial" panose="020B0604020202020204" pitchFamily="34" charset="0"/>
                        </a:rPr>
                        <a:t>]</a:t>
                      </a:r>
                      <a:r>
                        <a:rPr lang="en-US" sz="1800" kern="1200">
                          <a:solidFill>
                            <a:schemeClr val="dk1"/>
                          </a:solidFill>
                          <a:effectLst/>
                          <a:latin typeface="Arial" panose="020B0604020202020204" pitchFamily="34" charset="0"/>
                          <a:ea typeface="+mn-ea"/>
                          <a:cs typeface="Arial" panose="020B0604020202020204" pitchFamily="34" charset="0"/>
                        </a:rPr>
                        <a:t>, </a:t>
                      </a:r>
                      <a:r>
                        <a:rPr lang="vi-VN" sz="1800" kern="1200">
                          <a:solidFill>
                            <a:schemeClr val="dk1"/>
                          </a:solidFill>
                          <a:effectLst/>
                          <a:latin typeface="+mn-lt"/>
                          <a:ea typeface="+mn-ea"/>
                          <a:cs typeface="+mn-cs"/>
                        </a:rPr>
                        <a:t>[F</a:t>
                      </a:r>
                      <a:r>
                        <a:rPr lang="vi-VN" sz="1800" kern="1200">
                          <a:solidFill>
                            <a:schemeClr val="dk1"/>
                          </a:solidFill>
                          <a:effectLst/>
                          <a:latin typeface="+mn-lt"/>
                          <a:ea typeface="+mn-ea"/>
                          <a:cs typeface="Arial" panose="020B0604020202020204" pitchFamily="34" charset="0"/>
                        </a:rPr>
                        <a:t>R</a:t>
                      </a:r>
                      <a:r>
                        <a:rPr lang="en-US" sz="1800" kern="1200">
                          <a:solidFill>
                            <a:schemeClr val="dk1"/>
                          </a:solidFill>
                          <a:effectLst/>
                          <a:latin typeface="Arial" panose="020B0604020202020204" pitchFamily="34" charset="0"/>
                          <a:ea typeface="+mn-ea"/>
                          <a:cs typeface="Arial" panose="020B0604020202020204" pitchFamily="34" charset="0"/>
                        </a:rPr>
                        <a:t>8</a:t>
                      </a:r>
                      <a:r>
                        <a:rPr lang="vi-VN" sz="1800" kern="1200">
                          <a:solidFill>
                            <a:schemeClr val="dk1"/>
                          </a:solidFill>
                          <a:effectLst/>
                          <a:latin typeface="+mn-lt"/>
                          <a:ea typeface="+mn-ea"/>
                          <a:cs typeface="Arial" panose="020B0604020202020204" pitchFamily="34" charset="0"/>
                        </a:rPr>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100%</a:t>
                      </a:r>
                      <a:endParaRPr lang="vi-VN"/>
                    </a:p>
                  </a:txBody>
                  <a:tcPr/>
                </a:tc>
                <a:extLst>
                  <a:ext uri="{0D108BD9-81ED-4DB2-BD59-A6C34878D82A}">
                    <a16:rowId xmlns:a16="http://schemas.microsoft.com/office/drawing/2014/main" val="3597443478"/>
                  </a:ext>
                </a:extLst>
              </a:tr>
              <a:tr h="6444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Phùng Văn Vượng</a:t>
                      </a:r>
                      <a:endParaRPr lang="vi-VN"/>
                    </a:p>
                  </a:txBody>
                  <a:tcPr/>
                </a:tc>
                <a:tc>
                  <a:txBody>
                    <a:bodyPr/>
                    <a:lstStyle/>
                    <a:p>
                      <a:r>
                        <a:rPr lang="en-US"/>
                        <a:t>Dev</a:t>
                      </a:r>
                      <a:endParaRPr lang="vi-VN"/>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800" kern="1200">
                          <a:solidFill>
                            <a:schemeClr val="dk1"/>
                          </a:solidFill>
                          <a:effectLst/>
                          <a:latin typeface="+mn-lt"/>
                          <a:ea typeface="+mn-ea"/>
                          <a:cs typeface="+mn-cs"/>
                        </a:rPr>
                        <a:t>[F</a:t>
                      </a:r>
                      <a:r>
                        <a:rPr lang="vi-VN" sz="1800" kern="1200">
                          <a:solidFill>
                            <a:schemeClr val="dk1"/>
                          </a:solidFill>
                          <a:effectLst/>
                          <a:latin typeface="Arial" panose="020B0604020202020204" pitchFamily="34" charset="0"/>
                          <a:ea typeface="+mn-ea"/>
                          <a:cs typeface="Arial" panose="020B0604020202020204" pitchFamily="34" charset="0"/>
                        </a:rPr>
                        <a:t>R</a:t>
                      </a:r>
                      <a:r>
                        <a:rPr lang="en-US" sz="1800" kern="1200">
                          <a:solidFill>
                            <a:schemeClr val="dk1"/>
                          </a:solidFill>
                          <a:effectLst/>
                          <a:latin typeface="Arial" panose="020B0604020202020204" pitchFamily="34" charset="0"/>
                          <a:ea typeface="+mn-ea"/>
                          <a:cs typeface="Arial" panose="020B0604020202020204" pitchFamily="34" charset="0"/>
                        </a:rPr>
                        <a:t>7</a:t>
                      </a:r>
                      <a:r>
                        <a:rPr lang="vi-VN" sz="1800" kern="1200">
                          <a:solidFill>
                            <a:schemeClr val="dk1"/>
                          </a:solidFill>
                          <a:effectLst/>
                          <a:latin typeface="Arial" panose="020B0604020202020204" pitchFamily="34" charset="0"/>
                          <a:ea typeface="+mn-ea"/>
                          <a:cs typeface="Arial" panose="020B0604020202020204" pitchFamily="34" charset="0"/>
                        </a:rPr>
                        <a:t>]</a:t>
                      </a:r>
                    </a:p>
                  </a:txBody>
                  <a:tcPr/>
                </a:tc>
                <a:tc>
                  <a:txBody>
                    <a:bodyPr/>
                    <a:lstStyle/>
                    <a:p>
                      <a:r>
                        <a:rPr lang="en-US"/>
                        <a:t>100%</a:t>
                      </a:r>
                      <a:endParaRPr lang="vi-VN"/>
                    </a:p>
                  </a:txBody>
                  <a:tcPr/>
                </a:tc>
                <a:extLst>
                  <a:ext uri="{0D108BD9-81ED-4DB2-BD59-A6C34878D82A}">
                    <a16:rowId xmlns:a16="http://schemas.microsoft.com/office/drawing/2014/main" val="877936055"/>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93790" y="1032272"/>
            <a:ext cx="9717167" cy="779621"/>
          </a:xfrm>
          <a:prstGeom prst="rect">
            <a:avLst/>
          </a:prstGeom>
          <a:noFill/>
          <a:ln/>
        </p:spPr>
        <p:txBody>
          <a:bodyPr wrap="none" lIns="0" tIns="0" rIns="0" bIns="0" rtlCol="0" anchor="t"/>
          <a:lstStyle/>
          <a:p>
            <a:pPr marL="0" indent="0" algn="l">
              <a:lnSpc>
                <a:spcPts val="6100"/>
              </a:lnSpc>
              <a:buNone/>
            </a:pPr>
            <a:r>
              <a:rPr lang="en-US" sz="4900" b="1" dirty="0">
                <a:solidFill>
                  <a:srgbClr val="F95F88"/>
                </a:solidFill>
                <a:latin typeface="Arial" panose="020B0604020202020204" pitchFamily="34" charset="0"/>
                <a:ea typeface="Petrona Bold" pitchFamily="34" charset="-122"/>
                <a:cs typeface="Arial" panose="020B0604020202020204" pitchFamily="34" charset="0"/>
              </a:rPr>
              <a:t>Các chức năng chính của hệ thống</a:t>
            </a:r>
            <a:endParaRPr lang="en-US" sz="4900" dirty="0">
              <a:latin typeface="Arial" panose="020B0604020202020204" pitchFamily="34" charset="0"/>
              <a:cs typeface="Arial" panose="020B0604020202020204" pitchFamily="34" charset="0"/>
            </a:endParaRPr>
          </a:p>
        </p:txBody>
      </p:sp>
      <p:sp>
        <p:nvSpPr>
          <p:cNvPr id="4" name="Text 1"/>
          <p:cNvSpPr/>
          <p:nvPr/>
        </p:nvSpPr>
        <p:spPr>
          <a:xfrm>
            <a:off x="662209" y="2265521"/>
            <a:ext cx="2394942" cy="389930"/>
          </a:xfrm>
          <a:prstGeom prst="rect">
            <a:avLst/>
          </a:prstGeom>
          <a:noFill/>
          <a:ln/>
        </p:spPr>
        <p:txBody>
          <a:bodyPr wrap="none" lIns="0" tIns="0" rIns="0" bIns="0" rtlCol="0" anchor="t"/>
          <a:lstStyle/>
          <a:p>
            <a:pPr marL="0" indent="0" algn="l">
              <a:lnSpc>
                <a:spcPts val="3050"/>
              </a:lnSpc>
              <a:buNone/>
            </a:pPr>
            <a:r>
              <a:rPr lang="en-US" sz="2450" b="1" dirty="0">
                <a:solidFill>
                  <a:srgbClr val="272525"/>
                </a:solidFill>
                <a:latin typeface="Arial" panose="020B0604020202020204" pitchFamily="34" charset="0"/>
                <a:ea typeface="Petrona Bold" pitchFamily="34" charset="-122"/>
                <a:cs typeface="Arial" panose="020B0604020202020204" pitchFamily="34" charset="0"/>
              </a:rPr>
              <a:t>Quản lý đầu vào</a:t>
            </a:r>
            <a:endParaRPr lang="en-US" sz="2450" dirty="0">
              <a:latin typeface="Arial" panose="020B0604020202020204" pitchFamily="34" charset="0"/>
              <a:cs typeface="Arial" panose="020B0604020202020204" pitchFamily="34" charset="0"/>
            </a:endParaRPr>
          </a:p>
        </p:txBody>
      </p:sp>
      <p:sp>
        <p:nvSpPr>
          <p:cNvPr id="5" name="Text 2"/>
          <p:cNvSpPr/>
          <p:nvPr/>
        </p:nvSpPr>
        <p:spPr>
          <a:xfrm>
            <a:off x="662208" y="2791539"/>
            <a:ext cx="3934777" cy="3423910"/>
          </a:xfrm>
          <a:prstGeom prst="rect">
            <a:avLst/>
          </a:prstGeom>
          <a:noFill/>
          <a:ln/>
        </p:spPr>
        <p:txBody>
          <a:bodyPr wrap="square" lIns="0" tIns="0" rIns="0" bIns="0" rtlCol="0" anchor="t"/>
          <a:lstStyle/>
          <a:p>
            <a:pPr marL="342900"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Nhập dữ liệu sinh viên từ bàn phím thông qua Scanner</a:t>
            </a:r>
          </a:p>
          <a:p>
            <a:pPr marL="800100" lvl="1"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Kiểm tra dữ liệu nhập:</a:t>
            </a:r>
          </a:p>
          <a:p>
            <a:pPr marL="800100" lvl="1"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Mã sinh viên không trùng</a:t>
            </a:r>
          </a:p>
          <a:p>
            <a:pPr marL="800100" lvl="1"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Tuổi hợp lệ (18–30)</a:t>
            </a:r>
          </a:p>
          <a:p>
            <a:pPr marL="800100" lvl="1"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Điểm các môn trong khoảng 0–10</a:t>
            </a:r>
          </a:p>
          <a:p>
            <a:pPr marL="342900"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Xử lý các trường hợp nhập sai dữ liệu</a:t>
            </a:r>
          </a:p>
        </p:txBody>
      </p:sp>
      <p:sp>
        <p:nvSpPr>
          <p:cNvPr id="7" name="Text 3"/>
          <p:cNvSpPr/>
          <p:nvPr/>
        </p:nvSpPr>
        <p:spPr>
          <a:xfrm>
            <a:off x="5409111" y="2265521"/>
            <a:ext cx="2394942" cy="389930"/>
          </a:xfrm>
          <a:prstGeom prst="rect">
            <a:avLst/>
          </a:prstGeom>
          <a:noFill/>
          <a:ln/>
        </p:spPr>
        <p:txBody>
          <a:bodyPr wrap="none" lIns="0" tIns="0" rIns="0" bIns="0" rtlCol="0" anchor="t"/>
          <a:lstStyle/>
          <a:p>
            <a:pPr marL="0" indent="0" algn="l">
              <a:lnSpc>
                <a:spcPts val="3050"/>
              </a:lnSpc>
              <a:buNone/>
            </a:pPr>
            <a:r>
              <a:rPr lang="en-US" sz="2450" b="1" dirty="0">
                <a:solidFill>
                  <a:srgbClr val="272525"/>
                </a:solidFill>
                <a:latin typeface="Arial" panose="020B0604020202020204" pitchFamily="34" charset="0"/>
                <a:ea typeface="Petrona Bold" pitchFamily="34" charset="-122"/>
                <a:cs typeface="Arial" panose="020B0604020202020204" pitchFamily="34" charset="0"/>
              </a:rPr>
              <a:t>Xử lý dữ liệu</a:t>
            </a:r>
            <a:endParaRPr lang="en-US" sz="2450" dirty="0">
              <a:latin typeface="Arial" panose="020B0604020202020204" pitchFamily="34" charset="0"/>
              <a:cs typeface="Arial" panose="020B0604020202020204" pitchFamily="34" charset="0"/>
            </a:endParaRPr>
          </a:p>
        </p:txBody>
      </p:sp>
      <p:sp>
        <p:nvSpPr>
          <p:cNvPr id="8" name="Text 4"/>
          <p:cNvSpPr/>
          <p:nvPr/>
        </p:nvSpPr>
        <p:spPr>
          <a:xfrm>
            <a:off x="4983066" y="2791539"/>
            <a:ext cx="4868147" cy="3266321"/>
          </a:xfrm>
          <a:prstGeom prst="rect">
            <a:avLst/>
          </a:prstGeom>
          <a:noFill/>
          <a:ln/>
        </p:spPr>
        <p:txBody>
          <a:bodyPr wrap="square" lIns="0" tIns="0" rIns="0" bIns="0" rtlCol="0" anchor="t"/>
          <a:lstStyle/>
          <a:p>
            <a:pPr marL="342900"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Quản lý danh sách sinh viên bằng mảng đối tượng</a:t>
            </a:r>
          </a:p>
          <a:p>
            <a:pPr marL="800100" lvl="1"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Thực hiện các chức năng:</a:t>
            </a:r>
          </a:p>
          <a:p>
            <a:pPr marL="800100" lvl="1"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Thêm, hiển thị, tìm kiếm sinh viên</a:t>
            </a:r>
          </a:p>
          <a:p>
            <a:pPr marL="800100" lvl="1"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Cập nhật và xóa sinh viên</a:t>
            </a:r>
          </a:p>
          <a:p>
            <a:pPr marL="800100" lvl="1"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Tính điểm trung bình và xếp loại</a:t>
            </a:r>
          </a:p>
          <a:p>
            <a:pPr marL="800100" lvl="1"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Sắp xếp sinh viên theo điểm hoặc tên</a:t>
            </a:r>
          </a:p>
          <a:p>
            <a:pPr marL="800100" lvl="1"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Thống kê sinh viên theo xếp loại</a:t>
            </a:r>
          </a:p>
          <a:p>
            <a:pPr marL="342900"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Áp dụng OOP, vòng lặp, điều kiện và thuật toán cơ bản</a:t>
            </a:r>
            <a:endParaRPr lang="en-US" sz="1750" dirty="0"/>
          </a:p>
        </p:txBody>
      </p:sp>
      <p:sp>
        <p:nvSpPr>
          <p:cNvPr id="10" name="Text 5"/>
          <p:cNvSpPr/>
          <p:nvPr/>
        </p:nvSpPr>
        <p:spPr>
          <a:xfrm>
            <a:off x="10251463" y="2265521"/>
            <a:ext cx="2394942" cy="389930"/>
          </a:xfrm>
          <a:prstGeom prst="rect">
            <a:avLst/>
          </a:prstGeom>
          <a:noFill/>
          <a:ln/>
        </p:spPr>
        <p:txBody>
          <a:bodyPr wrap="none" lIns="0" tIns="0" rIns="0" bIns="0" rtlCol="0" anchor="t"/>
          <a:lstStyle/>
          <a:p>
            <a:pPr marL="0" indent="0" algn="l">
              <a:lnSpc>
                <a:spcPts val="3050"/>
              </a:lnSpc>
              <a:buNone/>
            </a:pPr>
            <a:r>
              <a:rPr lang="en-US" sz="2450" b="1">
                <a:solidFill>
                  <a:srgbClr val="272525"/>
                </a:solidFill>
                <a:latin typeface="Arial" panose="020B0604020202020204" pitchFamily="34" charset="0"/>
                <a:ea typeface="Petrona Bold" pitchFamily="34" charset="-122"/>
                <a:cs typeface="Arial" panose="020B0604020202020204" pitchFamily="34" charset="0"/>
              </a:rPr>
              <a:t>Điều khiển, hiển thị</a:t>
            </a:r>
            <a:endParaRPr lang="en-US" sz="2450" dirty="0">
              <a:latin typeface="Arial" panose="020B0604020202020204" pitchFamily="34" charset="0"/>
              <a:cs typeface="Arial" panose="020B0604020202020204" pitchFamily="34" charset="0"/>
            </a:endParaRPr>
          </a:p>
        </p:txBody>
      </p:sp>
      <p:sp>
        <p:nvSpPr>
          <p:cNvPr id="11" name="Text 6"/>
          <p:cNvSpPr/>
          <p:nvPr/>
        </p:nvSpPr>
        <p:spPr>
          <a:xfrm>
            <a:off x="10251463" y="2791539"/>
            <a:ext cx="4119443" cy="3543896"/>
          </a:xfrm>
          <a:prstGeom prst="rect">
            <a:avLst/>
          </a:prstGeom>
          <a:noFill/>
          <a:ln/>
        </p:spPr>
        <p:txBody>
          <a:bodyPr wrap="square" lIns="0" tIns="0" rIns="0" bIns="0" rtlCol="0" anchor="t"/>
          <a:lstStyle/>
          <a:p>
            <a:pPr marL="342900"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Menu lựa chọn chức năng rõ ràng (1–9, 0 để thoát)</a:t>
            </a:r>
          </a:p>
          <a:p>
            <a:pPr marL="342900"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Phân nhánh xử lý bằng switch-case</a:t>
            </a:r>
          </a:p>
          <a:p>
            <a:pPr marL="342900"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Hiển thị danh sách sinh viên dạng bảng trên Console</a:t>
            </a:r>
          </a:p>
          <a:p>
            <a:pPr marL="342900"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Thông báo kết quả và lỗi trực tiếp cho người dùng</a:t>
            </a:r>
          </a:p>
          <a:p>
            <a:pPr marL="342900" indent="-342900">
              <a:lnSpc>
                <a:spcPts val="2850"/>
              </a:lnSpc>
              <a:buSzPct val="100000"/>
              <a:buChar char="•"/>
            </a:pPr>
            <a:r>
              <a:rPr lang="vi-VN" sz="1750">
                <a:solidFill>
                  <a:srgbClr val="272525"/>
                </a:solidFill>
                <a:latin typeface="Inter" pitchFamily="34" charset="0"/>
                <a:ea typeface="Inter" pitchFamily="34" charset="-122"/>
                <a:cs typeface="Inter" pitchFamily="34" charset="-120"/>
              </a:rPr>
              <a:t>Chương trình tự động quay lại menu sau mỗi chức năng</a:t>
            </a:r>
            <a:endParaRPr lang="en-US" sz="1750" dirty="0"/>
          </a:p>
        </p:txBody>
      </p:sp>
      <p:sp>
        <p:nvSpPr>
          <p:cNvPr id="12" name="Text 7"/>
          <p:cNvSpPr/>
          <p:nvPr/>
        </p:nvSpPr>
        <p:spPr>
          <a:xfrm>
            <a:off x="793790" y="6854792"/>
            <a:ext cx="13042821" cy="725805"/>
          </a:xfrm>
          <a:prstGeom prst="rect">
            <a:avLst/>
          </a:prstGeom>
          <a:noFill/>
          <a:ln/>
        </p:spPr>
        <p:txBody>
          <a:bodyPr wrap="square" lIns="0" tIns="0" rIns="0" bIns="0" rtlCol="0" anchor="t"/>
          <a:lstStyle/>
          <a:p>
            <a:pPr>
              <a:lnSpc>
                <a:spcPts val="2850"/>
              </a:lnSpc>
            </a:pPr>
            <a:r>
              <a:rPr lang="vi-VN"/>
              <a:t>Hệ thống được thiết kế đơn giản, dễ sử dụng và đáp ứng đầy đủ các yêu cầu của mini project theo SRS.</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487805" y="485775"/>
            <a:ext cx="6185059" cy="580549"/>
          </a:xfrm>
          <a:prstGeom prst="rect">
            <a:avLst/>
          </a:prstGeom>
          <a:noFill/>
          <a:ln/>
        </p:spPr>
        <p:txBody>
          <a:bodyPr wrap="none" lIns="0" tIns="0" rIns="0" bIns="0" rtlCol="0" anchor="t"/>
          <a:lstStyle/>
          <a:p>
            <a:pPr marL="0" indent="0" algn="l">
              <a:lnSpc>
                <a:spcPts val="4550"/>
              </a:lnSpc>
              <a:buNone/>
            </a:pPr>
            <a:r>
              <a:rPr lang="en-US" sz="3650" b="1" dirty="0">
                <a:solidFill>
                  <a:srgbClr val="F95F88"/>
                </a:solidFill>
                <a:latin typeface="Arial" panose="020B0604020202020204" pitchFamily="34" charset="0"/>
                <a:ea typeface="Petrona Bold" pitchFamily="34" charset="-122"/>
                <a:cs typeface="Arial" panose="020B0604020202020204" pitchFamily="34" charset="0"/>
              </a:rPr>
              <a:t>Kiến thức &amp; Kỹ thuật áp dụng</a:t>
            </a:r>
            <a:endParaRPr lang="en-US" sz="3650" dirty="0">
              <a:latin typeface="Arial" panose="020B0604020202020204" pitchFamily="34" charset="0"/>
              <a:cs typeface="Arial" panose="020B0604020202020204" pitchFamily="34" charset="0"/>
            </a:endParaRPr>
          </a:p>
        </p:txBody>
      </p:sp>
      <p:sp>
        <p:nvSpPr>
          <p:cNvPr id="3" name="Shape 1"/>
          <p:cNvSpPr/>
          <p:nvPr/>
        </p:nvSpPr>
        <p:spPr>
          <a:xfrm>
            <a:off x="1487805" y="1396365"/>
            <a:ext cx="5621298" cy="2196346"/>
          </a:xfrm>
          <a:prstGeom prst="roundRect">
            <a:avLst>
              <a:gd name="adj" fmla="val 3230"/>
            </a:avLst>
          </a:prstGeom>
          <a:solidFill>
            <a:srgbClr val="E0D7F4"/>
          </a:solidFill>
          <a:ln w="7620">
            <a:solidFill>
              <a:srgbClr val="C6BDDA"/>
            </a:solidFill>
            <a:prstDash val="solid"/>
          </a:ln>
        </p:spPr>
        <p:txBody>
          <a:bodyPr/>
          <a:lstStyle/>
          <a:p>
            <a:endParaRPr lang="vi-VN"/>
          </a:p>
        </p:txBody>
      </p:sp>
      <p:sp>
        <p:nvSpPr>
          <p:cNvPr id="4" name="Shape 2"/>
          <p:cNvSpPr/>
          <p:nvPr/>
        </p:nvSpPr>
        <p:spPr>
          <a:xfrm>
            <a:off x="1664256" y="1572816"/>
            <a:ext cx="506611" cy="506611"/>
          </a:xfrm>
          <a:prstGeom prst="roundRect">
            <a:avLst>
              <a:gd name="adj" fmla="val 18047547"/>
            </a:avLst>
          </a:prstGeom>
          <a:solidFill>
            <a:srgbClr val="6237C8"/>
          </a:solidFill>
          <a:ln/>
        </p:spPr>
        <p:txBody>
          <a:bodyPr/>
          <a:lstStyle/>
          <a:p>
            <a:endParaRPr lang="vi-VN"/>
          </a:p>
        </p:txBody>
      </p:sp>
      <p:pic>
        <p:nvPicPr>
          <p:cNvPr id="5"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803559" y="1712119"/>
            <a:ext cx="228005" cy="228005"/>
          </a:xfrm>
          <a:prstGeom prst="rect">
            <a:avLst/>
          </a:prstGeom>
        </p:spPr>
      </p:pic>
      <p:sp>
        <p:nvSpPr>
          <p:cNvPr id="6" name="Text 3"/>
          <p:cNvSpPr/>
          <p:nvPr/>
        </p:nvSpPr>
        <p:spPr>
          <a:xfrm>
            <a:off x="1664256" y="2205157"/>
            <a:ext cx="2322433" cy="290274"/>
          </a:xfrm>
          <a:prstGeom prst="rect">
            <a:avLst/>
          </a:prstGeom>
          <a:noFill/>
          <a:ln/>
        </p:spPr>
        <p:txBody>
          <a:bodyPr wrap="none" lIns="0" tIns="0" rIns="0" bIns="0" rtlCol="0" anchor="t"/>
          <a:lstStyle/>
          <a:p>
            <a:pPr marL="0" indent="0" algn="l">
              <a:lnSpc>
                <a:spcPts val="2250"/>
              </a:lnSpc>
              <a:buNone/>
            </a:pPr>
            <a:r>
              <a:rPr lang="en-US" sz="1800" b="1" dirty="0">
                <a:solidFill>
                  <a:srgbClr val="272525"/>
                </a:solidFill>
                <a:latin typeface="Arial" panose="020B0604020202020204" pitchFamily="34" charset="0"/>
                <a:ea typeface="Petrona Bold" pitchFamily="34" charset="-122"/>
                <a:cs typeface="Arial" panose="020B0604020202020204" pitchFamily="34" charset="0"/>
              </a:rPr>
              <a:t>Ngôn ngữ &amp; Công cụ</a:t>
            </a:r>
            <a:endParaRPr lang="en-US" sz="1800" dirty="0">
              <a:latin typeface="Arial" panose="020B0604020202020204" pitchFamily="34" charset="0"/>
              <a:cs typeface="Arial" panose="020B0604020202020204" pitchFamily="34" charset="0"/>
            </a:endParaRPr>
          </a:p>
        </p:txBody>
      </p:sp>
      <p:sp>
        <p:nvSpPr>
          <p:cNvPr id="7" name="Text 4"/>
          <p:cNvSpPr/>
          <p:nvPr/>
        </p:nvSpPr>
        <p:spPr>
          <a:xfrm>
            <a:off x="1664256" y="2621161"/>
            <a:ext cx="5268397" cy="707252"/>
          </a:xfrm>
          <a:prstGeom prst="rect">
            <a:avLst/>
          </a:prstGeom>
          <a:noFill/>
          <a:ln/>
        </p:spPr>
        <p:txBody>
          <a:bodyPr wrap="square" lIns="0" tIns="0" rIns="0" bIns="0" rtlCol="0" anchor="t"/>
          <a:lstStyle/>
          <a:p>
            <a:pPr marL="342900" indent="-342900" algn="l">
              <a:lnSpc>
                <a:spcPts val="1850"/>
              </a:lnSpc>
              <a:buSzPct val="100000"/>
              <a:buChar char="•"/>
            </a:pPr>
            <a:r>
              <a:rPr lang="en-US" sz="1300" dirty="0">
                <a:solidFill>
                  <a:srgbClr val="272525"/>
                </a:solidFill>
                <a:latin typeface="Inter" pitchFamily="34" charset="0"/>
                <a:ea typeface="Inter" pitchFamily="34" charset="-122"/>
                <a:cs typeface="Inter" pitchFamily="34" charset="-120"/>
              </a:rPr>
              <a:t>Java JDK 17 (hoặc 21)</a:t>
            </a:r>
            <a:endParaRPr lang="en-US" sz="1300" dirty="0"/>
          </a:p>
          <a:p>
            <a:pPr marL="342900" indent="-342900" algn="l">
              <a:lnSpc>
                <a:spcPts val="1850"/>
              </a:lnSpc>
              <a:buSzPct val="100000"/>
              <a:buChar char="•"/>
            </a:pPr>
            <a:r>
              <a:rPr lang="en-US" sz="1300" dirty="0">
                <a:solidFill>
                  <a:srgbClr val="272525"/>
                </a:solidFill>
                <a:latin typeface="Inter" pitchFamily="34" charset="0"/>
                <a:ea typeface="Inter" pitchFamily="34" charset="-122"/>
                <a:cs typeface="Inter" pitchFamily="34" charset="-120"/>
              </a:rPr>
              <a:t>IntelliJ IDEA</a:t>
            </a:r>
            <a:endParaRPr lang="en-US" sz="1300" dirty="0"/>
          </a:p>
          <a:p>
            <a:pPr marL="342900" indent="-342900" algn="l">
              <a:lnSpc>
                <a:spcPts val="1850"/>
              </a:lnSpc>
              <a:buSzPct val="100000"/>
              <a:buChar char="•"/>
            </a:pPr>
            <a:r>
              <a:rPr lang="en-US" sz="1300" dirty="0">
                <a:solidFill>
                  <a:srgbClr val="272525"/>
                </a:solidFill>
                <a:latin typeface="Inter" pitchFamily="34" charset="0"/>
                <a:ea typeface="Inter" pitchFamily="34" charset="-122"/>
                <a:cs typeface="Inter" pitchFamily="34" charset="-120"/>
              </a:rPr>
              <a:t>Git/GitHub</a:t>
            </a:r>
            <a:endParaRPr lang="en-US" sz="1300" dirty="0"/>
          </a:p>
        </p:txBody>
      </p:sp>
      <p:sp>
        <p:nvSpPr>
          <p:cNvPr id="8" name="Shape 5"/>
          <p:cNvSpPr/>
          <p:nvPr/>
        </p:nvSpPr>
        <p:spPr>
          <a:xfrm>
            <a:off x="1487805" y="3630592"/>
            <a:ext cx="5621298" cy="4005883"/>
          </a:xfrm>
          <a:prstGeom prst="roundRect">
            <a:avLst>
              <a:gd name="adj" fmla="val 2574"/>
            </a:avLst>
          </a:prstGeom>
          <a:solidFill>
            <a:srgbClr val="E0D7F4"/>
          </a:solidFill>
          <a:ln w="7620">
            <a:solidFill>
              <a:srgbClr val="C6BDDA"/>
            </a:solidFill>
            <a:prstDash val="solid"/>
          </a:ln>
        </p:spPr>
        <p:txBody>
          <a:bodyPr/>
          <a:lstStyle/>
          <a:p>
            <a:endParaRPr lang="vi-VN"/>
          </a:p>
        </p:txBody>
      </p:sp>
      <p:sp>
        <p:nvSpPr>
          <p:cNvPr id="9" name="Shape 6"/>
          <p:cNvSpPr/>
          <p:nvPr/>
        </p:nvSpPr>
        <p:spPr>
          <a:xfrm>
            <a:off x="1664256" y="3807044"/>
            <a:ext cx="506611" cy="506611"/>
          </a:xfrm>
          <a:prstGeom prst="roundRect">
            <a:avLst>
              <a:gd name="adj" fmla="val 18047547"/>
            </a:avLst>
          </a:prstGeom>
          <a:solidFill>
            <a:srgbClr val="6237C8"/>
          </a:solidFill>
          <a:ln/>
        </p:spPr>
        <p:txBody>
          <a:bodyPr/>
          <a:lstStyle/>
          <a:p>
            <a:endParaRPr lang="vi-VN"/>
          </a:p>
        </p:txBody>
      </p:sp>
      <p:pic>
        <p:nvPicPr>
          <p:cNvPr id="10"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03559" y="3946347"/>
            <a:ext cx="228005" cy="228005"/>
          </a:xfrm>
          <a:prstGeom prst="rect">
            <a:avLst/>
          </a:prstGeom>
        </p:spPr>
      </p:pic>
      <p:sp>
        <p:nvSpPr>
          <p:cNvPr id="11" name="Text 7"/>
          <p:cNvSpPr/>
          <p:nvPr/>
        </p:nvSpPr>
        <p:spPr>
          <a:xfrm>
            <a:off x="1664256" y="4439385"/>
            <a:ext cx="2322433" cy="290274"/>
          </a:xfrm>
          <a:prstGeom prst="rect">
            <a:avLst/>
          </a:prstGeom>
          <a:noFill/>
          <a:ln/>
        </p:spPr>
        <p:txBody>
          <a:bodyPr wrap="none" lIns="0" tIns="0" rIns="0" bIns="0" rtlCol="0" anchor="t"/>
          <a:lstStyle/>
          <a:p>
            <a:pPr marL="0" indent="0" algn="l">
              <a:lnSpc>
                <a:spcPts val="2250"/>
              </a:lnSpc>
              <a:buNone/>
            </a:pPr>
            <a:r>
              <a:rPr lang="en-US" sz="1800" b="1" dirty="0">
                <a:solidFill>
                  <a:srgbClr val="272525"/>
                </a:solidFill>
                <a:latin typeface="Arial" panose="020B0604020202020204" pitchFamily="34" charset="0"/>
                <a:ea typeface="Petrona Bold" pitchFamily="34" charset="-122"/>
                <a:cs typeface="Arial" panose="020B0604020202020204" pitchFamily="34" charset="0"/>
              </a:rPr>
              <a:t>Kỹ thuật lập trình</a:t>
            </a:r>
            <a:endParaRPr lang="en-US" sz="1800" dirty="0">
              <a:latin typeface="Arial" panose="020B0604020202020204" pitchFamily="34" charset="0"/>
              <a:cs typeface="Arial" panose="020B0604020202020204" pitchFamily="34" charset="0"/>
            </a:endParaRPr>
          </a:p>
        </p:txBody>
      </p:sp>
      <p:sp>
        <p:nvSpPr>
          <p:cNvPr id="12" name="Text 8"/>
          <p:cNvSpPr/>
          <p:nvPr/>
        </p:nvSpPr>
        <p:spPr>
          <a:xfrm>
            <a:off x="1664256" y="4855388"/>
            <a:ext cx="5268397" cy="3026190"/>
          </a:xfrm>
          <a:prstGeom prst="rect">
            <a:avLst/>
          </a:prstGeom>
          <a:noFill/>
          <a:ln/>
        </p:spPr>
        <p:txBody>
          <a:bodyPr wrap="square" lIns="0" tIns="0" rIns="0" bIns="0" rtlCol="0" anchor="t"/>
          <a:lstStyle/>
          <a:p>
            <a:pPr marL="342900" indent="-342900">
              <a:lnSpc>
                <a:spcPts val="1850"/>
              </a:lnSpc>
              <a:buSzPct val="100000"/>
              <a:buChar char="•"/>
            </a:pPr>
            <a:r>
              <a:rPr lang="vi-VN" sz="1300">
                <a:solidFill>
                  <a:srgbClr val="272525"/>
                </a:solidFill>
                <a:latin typeface="Inter" pitchFamily="34" charset="0"/>
                <a:ea typeface="Inter" pitchFamily="34" charset="-122"/>
                <a:cs typeface="Inter" pitchFamily="34" charset="-120"/>
              </a:rPr>
              <a:t>Lập trình hướng đối tượng (OOP): class, object, constructor, getter/setter, đóng gói</a:t>
            </a:r>
          </a:p>
          <a:p>
            <a:pPr marL="342900" indent="-342900">
              <a:lnSpc>
                <a:spcPts val="1850"/>
              </a:lnSpc>
              <a:buSzPct val="100000"/>
              <a:buChar char="•"/>
            </a:pPr>
            <a:r>
              <a:rPr lang="vi-VN" sz="1300">
                <a:solidFill>
                  <a:srgbClr val="272525"/>
                </a:solidFill>
                <a:latin typeface="Inter" pitchFamily="34" charset="0"/>
                <a:ea typeface="Inter" pitchFamily="34" charset="-122"/>
                <a:cs typeface="Inter" pitchFamily="34" charset="-120"/>
              </a:rPr>
              <a:t>Mảng đối tượng: khai báo, khởi tạo, thêm, xóa, cập nhật, tìm kiếm sinh viên</a:t>
            </a:r>
          </a:p>
          <a:p>
            <a:pPr marL="342900" indent="-342900">
              <a:lnSpc>
                <a:spcPts val="1850"/>
              </a:lnSpc>
              <a:buSzPct val="100000"/>
              <a:buChar char="•"/>
            </a:pPr>
            <a:r>
              <a:rPr lang="vi-VN" sz="1300">
                <a:solidFill>
                  <a:srgbClr val="272525"/>
                </a:solidFill>
                <a:latin typeface="Inter" pitchFamily="34" charset="0"/>
                <a:ea typeface="Inter" pitchFamily="34" charset="-122"/>
                <a:cs typeface="Inter" pitchFamily="34" charset="-120"/>
              </a:rPr>
              <a:t>Cấu trúc điều khiển: if–else, switch–case, vòng lặp for, while, do–while (menu)</a:t>
            </a:r>
          </a:p>
          <a:p>
            <a:pPr marL="342900" indent="-342900">
              <a:lnSpc>
                <a:spcPts val="1850"/>
              </a:lnSpc>
              <a:buSzPct val="100000"/>
              <a:buChar char="•"/>
            </a:pPr>
            <a:r>
              <a:rPr lang="vi-VN" sz="1300">
                <a:solidFill>
                  <a:srgbClr val="272525"/>
                </a:solidFill>
                <a:latin typeface="Inter" pitchFamily="34" charset="0"/>
                <a:ea typeface="Inter" pitchFamily="34" charset="-122"/>
                <a:cs typeface="Inter" pitchFamily="34" charset="-120"/>
              </a:rPr>
              <a:t>Xử lý dữ liệu: tính điểm trung bình, xếp loại sinh viên</a:t>
            </a:r>
          </a:p>
          <a:p>
            <a:pPr marL="342900" indent="-342900">
              <a:lnSpc>
                <a:spcPts val="1850"/>
              </a:lnSpc>
              <a:buSzPct val="100000"/>
              <a:buChar char="•"/>
            </a:pPr>
            <a:r>
              <a:rPr lang="vi-VN" sz="1300">
                <a:solidFill>
                  <a:srgbClr val="272525"/>
                </a:solidFill>
                <a:latin typeface="Inter" pitchFamily="34" charset="0"/>
                <a:ea typeface="Inter" pitchFamily="34" charset="-122"/>
                <a:cs typeface="Inter" pitchFamily="34" charset="-120"/>
              </a:rPr>
              <a:t>Thuật toán cơ bản: tìm kiếm tuyến tính, sắp xếp (bubble sort, selection sort)</a:t>
            </a:r>
          </a:p>
          <a:p>
            <a:pPr marL="342900" indent="-342900">
              <a:lnSpc>
                <a:spcPts val="1850"/>
              </a:lnSpc>
              <a:buSzPct val="100000"/>
              <a:buChar char="•"/>
            </a:pPr>
            <a:r>
              <a:rPr lang="vi-VN" sz="1300">
                <a:solidFill>
                  <a:srgbClr val="272525"/>
                </a:solidFill>
                <a:latin typeface="Inter" pitchFamily="34" charset="0"/>
                <a:ea typeface="Inter" pitchFamily="34" charset="-122"/>
                <a:cs typeface="Inter" pitchFamily="34" charset="-120"/>
              </a:rPr>
              <a:t>Xử lý lỗi &amp; kiểm tra dữ liệu: validate đầu vào, exception handling</a:t>
            </a:r>
            <a:endParaRPr lang="en-US" sz="1300" dirty="0"/>
          </a:p>
        </p:txBody>
      </p:sp>
      <p:pic>
        <p:nvPicPr>
          <p:cNvPr id="13" name="Image 2" descr="preencoded.png"/>
          <p:cNvPicPr>
            <a:picLocks noChangeAspect="1"/>
          </p:cNvPicPr>
          <p:nvPr/>
        </p:nvPicPr>
        <p:blipFill>
          <a:blip r:embed="rId7"/>
          <a:stretch>
            <a:fillRect/>
          </a:stretch>
        </p:blipFill>
        <p:spPr>
          <a:xfrm>
            <a:off x="7528679" y="1396365"/>
            <a:ext cx="5621298" cy="562129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10446" y="540947"/>
            <a:ext cx="6774656" cy="457914"/>
          </a:xfrm>
          <a:prstGeom prst="rect">
            <a:avLst/>
          </a:prstGeom>
          <a:noFill/>
          <a:ln/>
        </p:spPr>
        <p:txBody>
          <a:bodyPr wrap="none" lIns="0" tIns="0" rIns="0" bIns="0" rtlCol="0" anchor="t"/>
          <a:lstStyle/>
          <a:p>
            <a:pPr marL="0" indent="0" algn="l">
              <a:lnSpc>
                <a:spcPts val="3600"/>
              </a:lnSpc>
              <a:buNone/>
            </a:pPr>
            <a:r>
              <a:rPr lang="en-US" sz="2850" b="1" dirty="0">
                <a:solidFill>
                  <a:srgbClr val="F95F88"/>
                </a:solidFill>
                <a:latin typeface="Arial" panose="020B0604020202020204" pitchFamily="34" charset="0"/>
                <a:ea typeface="Petrona Bold" pitchFamily="34" charset="-122"/>
                <a:cs typeface="Arial" panose="020B0604020202020204" pitchFamily="34" charset="0"/>
              </a:rPr>
              <a:t>Demo Code tâm đắc nhất</a:t>
            </a:r>
            <a:r>
              <a:rPr lang="en-US" sz="2850" b="1">
                <a:solidFill>
                  <a:srgbClr val="F95F88"/>
                </a:solidFill>
                <a:latin typeface="Arial" panose="020B0604020202020204" pitchFamily="34" charset="0"/>
                <a:ea typeface="Petrona Bold" pitchFamily="34" charset="-122"/>
                <a:cs typeface="Arial" panose="020B0604020202020204" pitchFamily="34" charset="0"/>
              </a:rPr>
              <a:t>: Sắp xếp mảng</a:t>
            </a:r>
            <a:endParaRPr lang="en-US" sz="2850" dirty="0">
              <a:latin typeface="Arial" panose="020B0604020202020204" pitchFamily="34" charset="0"/>
              <a:cs typeface="Arial" panose="020B0604020202020204" pitchFamily="34" charset="0"/>
            </a:endParaRPr>
          </a:p>
        </p:txBody>
      </p:sp>
      <p:pic>
        <p:nvPicPr>
          <p:cNvPr id="11" name="Image 2" descr="preencoded.png"/>
          <p:cNvPicPr>
            <a:picLocks noChangeAspect="1"/>
          </p:cNvPicPr>
          <p:nvPr/>
        </p:nvPicPr>
        <p:blipFill>
          <a:blip r:embed="rId3"/>
          <a:stretch>
            <a:fillRect/>
          </a:stretch>
        </p:blipFill>
        <p:spPr>
          <a:xfrm>
            <a:off x="2852499" y="7306628"/>
            <a:ext cx="166449" cy="133112"/>
          </a:xfrm>
          <a:prstGeom prst="rect">
            <a:avLst/>
          </a:prstGeom>
        </p:spPr>
      </p:pic>
      <p:pic>
        <p:nvPicPr>
          <p:cNvPr id="8" name="Hình ảnh 7" descr="Ảnh có chứa văn bản, ảnh chụp màn hình, Phông chữ&#10;&#10;Nội dung do AI tạo ra có thể không chính xác.">
            <a:extLst>
              <a:ext uri="{FF2B5EF4-FFF2-40B4-BE49-F238E27FC236}">
                <a16:creationId xmlns:a16="http://schemas.microsoft.com/office/drawing/2014/main" id="{98631B0C-21D1-509A-4DD6-4E1CE382BFAD}"/>
              </a:ext>
            </a:extLst>
          </p:cNvPr>
          <p:cNvPicPr>
            <a:picLocks noChangeAspect="1"/>
          </p:cNvPicPr>
          <p:nvPr/>
        </p:nvPicPr>
        <p:blipFill>
          <a:blip r:embed="rId4"/>
          <a:stretch>
            <a:fillRect/>
          </a:stretch>
        </p:blipFill>
        <p:spPr>
          <a:xfrm>
            <a:off x="968154" y="1382223"/>
            <a:ext cx="8097380" cy="6306430"/>
          </a:xfrm>
          <a:prstGeom prst="rect">
            <a:avLst/>
          </a:prstGeom>
        </p:spPr>
      </p:pic>
      <p:sp>
        <p:nvSpPr>
          <p:cNvPr id="10" name="Hộp Văn bản 9">
            <a:extLst>
              <a:ext uri="{FF2B5EF4-FFF2-40B4-BE49-F238E27FC236}">
                <a16:creationId xmlns:a16="http://schemas.microsoft.com/office/drawing/2014/main" id="{8E0336E4-1A74-A3C0-1ED9-B45E2FD16510}"/>
              </a:ext>
            </a:extLst>
          </p:cNvPr>
          <p:cNvSpPr txBox="1"/>
          <p:nvPr/>
        </p:nvSpPr>
        <p:spPr>
          <a:xfrm>
            <a:off x="9354064" y="1339352"/>
            <a:ext cx="5016843" cy="6100388"/>
          </a:xfrm>
          <a:prstGeom prst="rect">
            <a:avLst/>
          </a:prstGeom>
          <a:noFill/>
        </p:spPr>
        <p:txBody>
          <a:bodyPr wrap="square" rtlCol="0">
            <a:spAutoFit/>
          </a:bodyPr>
          <a:lstStyle/>
          <a:p>
            <a:pPr marL="285750" indent="-285750">
              <a:lnSpc>
                <a:spcPct val="200000"/>
              </a:lnSpc>
              <a:buFont typeface="Wingdings" panose="05000000000000000000" pitchFamily="2" charset="2"/>
              <a:buChar char="Ø"/>
            </a:pPr>
            <a:r>
              <a:rPr lang="en-US">
                <a:latin typeface="Arial" panose="020B0604020202020204" pitchFamily="34" charset="0"/>
                <a:cs typeface="Arial" panose="020B0604020202020204" pitchFamily="34" charset="0"/>
              </a:rPr>
              <a:t>Sắp xếp theo điểm trung bình giảm dần</a:t>
            </a:r>
            <a:endParaRPr lang="vi-VN">
              <a:latin typeface="Arial" panose="020B0604020202020204" pitchFamily="34" charset="0"/>
              <a:cs typeface="Arial" panose="020B0604020202020204" pitchFamily="34" charset="0"/>
            </a:endParaRPr>
          </a:p>
          <a:p>
            <a:pPr marL="742950" lvl="1" indent="-285750">
              <a:lnSpc>
                <a:spcPct val="200000"/>
              </a:lnSpc>
              <a:buFont typeface="Arial" panose="020B0604020202020204" pitchFamily="34" charset="0"/>
              <a:buChar char="•"/>
            </a:pPr>
            <a:r>
              <a:rPr lang="vi-VN">
                <a:latin typeface="Arial" panose="020B0604020202020204" pitchFamily="34" charset="0"/>
                <a:ea typeface="Calibri" panose="020F0502020204030204" pitchFamily="34" charset="0"/>
                <a:cs typeface="Arial" panose="020B0604020202020204" pitchFamily="34" charset="0"/>
              </a:rPr>
              <a:t>So sánh từng cặp sinh viên liền kề</a:t>
            </a:r>
          </a:p>
          <a:p>
            <a:pPr marL="742950" lvl="1" indent="-285750">
              <a:lnSpc>
                <a:spcPct val="200000"/>
              </a:lnSpc>
              <a:buFont typeface="Arial" panose="020B0604020202020204" pitchFamily="34" charset="0"/>
              <a:buChar char="•"/>
            </a:pPr>
            <a:r>
              <a:rPr lang="vi-VN">
                <a:latin typeface="Arial" panose="020B0604020202020204" pitchFamily="34" charset="0"/>
                <a:ea typeface="Calibri" panose="020F0502020204030204" pitchFamily="34" charset="0"/>
                <a:cs typeface="Arial" panose="020B0604020202020204" pitchFamily="34" charset="0"/>
              </a:rPr>
              <a:t>Nếu điểm TB bên trái &lt; bên phải thì đổi chỗ</a:t>
            </a:r>
          </a:p>
          <a:p>
            <a:pPr marL="742950" lvl="1" indent="-285750">
              <a:lnSpc>
                <a:spcPct val="200000"/>
              </a:lnSpc>
              <a:buFont typeface="Arial" panose="020B0604020202020204" pitchFamily="34" charset="0"/>
              <a:buChar char="•"/>
            </a:pPr>
            <a:r>
              <a:rPr lang="vi-VN">
                <a:latin typeface="Arial" panose="020B0604020202020204" pitchFamily="34" charset="0"/>
                <a:cs typeface="Arial" panose="020B0604020202020204" pitchFamily="34" charset="0"/>
              </a:rPr>
              <a:t>Lặp lại nhiều lần đến khi sắp xếp xong</a:t>
            </a:r>
          </a:p>
          <a:p>
            <a:pPr marL="285750" indent="-285750">
              <a:lnSpc>
                <a:spcPct val="200000"/>
              </a:lnSpc>
              <a:buFont typeface="Wingdings" panose="05000000000000000000" pitchFamily="2" charset="2"/>
              <a:buChar char="Ø"/>
            </a:pPr>
            <a:r>
              <a:rPr lang="en-US">
                <a:latin typeface="Arial" panose="020B0604020202020204" pitchFamily="34" charset="0"/>
                <a:cs typeface="Arial" panose="020B0604020202020204" pitchFamily="34" charset="0"/>
              </a:rPr>
              <a:t>Sắp xếp theo tên (A-Z)</a:t>
            </a:r>
            <a:endParaRPr lang="vi-VN">
              <a:latin typeface="Arial" panose="020B0604020202020204" pitchFamily="34" charset="0"/>
              <a:cs typeface="Arial" panose="020B0604020202020204" pitchFamily="34" charset="0"/>
            </a:endParaRPr>
          </a:p>
          <a:p>
            <a:pPr marL="742950" lvl="1" indent="-285750">
              <a:lnSpc>
                <a:spcPct val="200000"/>
              </a:lnSpc>
              <a:buFont typeface="Arial" panose="020B0604020202020204" pitchFamily="34" charset="0"/>
              <a:buChar char="•"/>
            </a:pPr>
            <a:r>
              <a:rPr lang="vi-VN">
                <a:latin typeface="Arial" panose="020B0604020202020204" pitchFamily="34" charset="0"/>
                <a:cs typeface="Arial" panose="020B0604020202020204" pitchFamily="34" charset="0"/>
              </a:rPr>
              <a:t>Chọn sinh viên có tên nhỏ nhất trong phần chưa sắp xếp</a:t>
            </a:r>
          </a:p>
          <a:p>
            <a:pPr marL="742950" lvl="1" indent="-285750">
              <a:lnSpc>
                <a:spcPct val="200000"/>
              </a:lnSpc>
              <a:buFont typeface="Arial" panose="020B0604020202020204" pitchFamily="34" charset="0"/>
              <a:buChar char="•"/>
            </a:pPr>
            <a:r>
              <a:rPr lang="vi-VN">
                <a:latin typeface="Arial" panose="020B0604020202020204" pitchFamily="34" charset="0"/>
                <a:cs typeface="Arial" panose="020B0604020202020204" pitchFamily="34" charset="0"/>
              </a:rPr>
              <a:t>Đổi chỗ với vị trí hiện tại</a:t>
            </a:r>
          </a:p>
          <a:p>
            <a:pPr marL="742950" lvl="1" indent="-285750">
              <a:lnSpc>
                <a:spcPct val="200000"/>
              </a:lnSpc>
              <a:buFont typeface="Arial" panose="020B0604020202020204" pitchFamily="34" charset="0"/>
              <a:buChar char="•"/>
            </a:pPr>
            <a:r>
              <a:rPr lang="vi-VN">
                <a:latin typeface="Arial" panose="020B0604020202020204" pitchFamily="34" charset="0"/>
                <a:cs typeface="Arial" panose="020B0604020202020204" pitchFamily="34" charset="0"/>
              </a:rPr>
              <a:t>So sánh tên không phân biệt hoa/thường</a:t>
            </a:r>
          </a:p>
        </p:txBody>
      </p:sp>
      <p:sp>
        <p:nvSpPr>
          <p:cNvPr id="13" name="Hộp Văn bản 12">
            <a:extLst>
              <a:ext uri="{FF2B5EF4-FFF2-40B4-BE49-F238E27FC236}">
                <a16:creationId xmlns:a16="http://schemas.microsoft.com/office/drawing/2014/main" id="{60507736-F0FE-EC23-A117-45C4ABE50085}"/>
              </a:ext>
            </a:extLst>
          </p:cNvPr>
          <p:cNvSpPr txBox="1"/>
          <p:nvPr/>
        </p:nvSpPr>
        <p:spPr>
          <a:xfrm>
            <a:off x="9354065" y="817597"/>
            <a:ext cx="7315200" cy="508601"/>
          </a:xfrm>
          <a:prstGeom prst="rect">
            <a:avLst/>
          </a:prstGeom>
          <a:noFill/>
        </p:spPr>
        <p:txBody>
          <a:bodyPr wrap="square">
            <a:spAutoFit/>
          </a:bodyPr>
          <a:lstStyle/>
          <a:p>
            <a:pPr marL="0" indent="0" algn="l">
              <a:lnSpc>
                <a:spcPts val="3550"/>
              </a:lnSpc>
              <a:buNone/>
            </a:pPr>
            <a:r>
              <a:rPr lang="en-US" sz="2400" b="1">
                <a:solidFill>
                  <a:srgbClr val="F95F88"/>
                </a:solidFill>
                <a:latin typeface="Arial" panose="020B0604020202020204" pitchFamily="34" charset="0"/>
                <a:ea typeface="Petrona Bold" pitchFamily="34" charset="-122"/>
                <a:cs typeface="Arial" panose="020B0604020202020204" pitchFamily="34" charset="0"/>
              </a:rPr>
              <a:t>Giải thích sơ bộ:</a:t>
            </a:r>
            <a:endParaRPr lang="en-US" sz="2400" dirty="0">
              <a:latin typeface="Arial" panose="020B0604020202020204" pitchFamily="34" charset="0"/>
              <a:cs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70334" y="642223"/>
            <a:ext cx="7897178" cy="756642"/>
          </a:xfrm>
          <a:prstGeom prst="rect">
            <a:avLst/>
          </a:prstGeom>
          <a:noFill/>
          <a:ln/>
        </p:spPr>
        <p:txBody>
          <a:bodyPr wrap="none" lIns="0" tIns="0" rIns="0" bIns="0" rtlCol="0" anchor="t"/>
          <a:lstStyle/>
          <a:p>
            <a:pPr marL="0" indent="0" algn="l">
              <a:lnSpc>
                <a:spcPts val="5950"/>
              </a:lnSpc>
              <a:buNone/>
            </a:pPr>
            <a:r>
              <a:rPr lang="en-US" sz="4750" b="1" dirty="0">
                <a:solidFill>
                  <a:srgbClr val="F95F88"/>
                </a:solidFill>
                <a:latin typeface="Arial" panose="020B0604020202020204" pitchFamily="34" charset="0"/>
                <a:ea typeface="Petrona Bold" pitchFamily="34" charset="-122"/>
                <a:cs typeface="Arial" panose="020B0604020202020204" pitchFamily="34" charset="0"/>
              </a:rPr>
              <a:t>Demo Ứng dụng (Live Demo)</a:t>
            </a:r>
            <a:endParaRPr lang="en-US" sz="4750" dirty="0">
              <a:latin typeface="Arial" panose="020B0604020202020204" pitchFamily="34" charset="0"/>
              <a:cs typeface="Arial" panose="020B0604020202020204" pitchFamily="34" charset="0"/>
            </a:endParaRPr>
          </a:p>
        </p:txBody>
      </p:sp>
      <p:sp>
        <p:nvSpPr>
          <p:cNvPr id="3" name="Text 1"/>
          <p:cNvSpPr/>
          <p:nvPr/>
        </p:nvSpPr>
        <p:spPr>
          <a:xfrm>
            <a:off x="770334" y="1825943"/>
            <a:ext cx="13089731" cy="693896"/>
          </a:xfrm>
          <a:prstGeom prst="rect">
            <a:avLst/>
          </a:prstGeom>
          <a:noFill/>
          <a:ln/>
        </p:spPr>
        <p:txBody>
          <a:bodyPr wrap="square" lIns="0" tIns="0" rIns="0" bIns="0" rtlCol="0" anchor="t"/>
          <a:lstStyle/>
          <a:p>
            <a:pPr marL="0" indent="0" algn="l">
              <a:lnSpc>
                <a:spcPts val="2700"/>
              </a:lnSpc>
              <a:buNone/>
            </a:pPr>
            <a:r>
              <a:rPr lang="en-US" sz="1700">
                <a:solidFill>
                  <a:srgbClr val="272525"/>
                </a:solidFill>
                <a:latin typeface="Inter" pitchFamily="34" charset="0"/>
                <a:ea typeface="Inter" pitchFamily="34" charset="-122"/>
                <a:cs typeface="Inter" pitchFamily="34" charset="-120"/>
              </a:rPr>
              <a:t>Chúng em </a:t>
            </a:r>
            <a:r>
              <a:rPr lang="en-US" sz="1700" dirty="0">
                <a:solidFill>
                  <a:srgbClr val="272525"/>
                </a:solidFill>
                <a:latin typeface="Inter" pitchFamily="34" charset="0"/>
                <a:ea typeface="Inter" pitchFamily="34" charset="-122"/>
                <a:cs typeface="Inter" pitchFamily="34" charset="-120"/>
              </a:rPr>
              <a:t>sẽ trình diễn trực tiếp hoạt động của ứng dụng trên màn hình Console của IntelliJ </a:t>
            </a:r>
            <a:r>
              <a:rPr lang="en-US" sz="1700">
                <a:solidFill>
                  <a:srgbClr val="272525"/>
                </a:solidFill>
                <a:latin typeface="Inter" pitchFamily="34" charset="0"/>
                <a:ea typeface="Inter" pitchFamily="34" charset="-122"/>
                <a:cs typeface="Inter" pitchFamily="34" charset="-120"/>
              </a:rPr>
              <a:t>IDEA để thầy </a:t>
            </a:r>
            <a:r>
              <a:rPr lang="en-US" sz="1700" dirty="0">
                <a:solidFill>
                  <a:srgbClr val="272525"/>
                </a:solidFill>
                <a:latin typeface="Inter" pitchFamily="34" charset="0"/>
                <a:ea typeface="Inter" pitchFamily="34" charset="-122"/>
                <a:cs typeface="Inter" pitchFamily="34" charset="-120"/>
              </a:rPr>
              <a:t>và các bạn tiện theo dõi.</a:t>
            </a:r>
            <a:endParaRPr lang="en-US" sz="1700" dirty="0"/>
          </a:p>
        </p:txBody>
      </p:sp>
      <p:sp>
        <p:nvSpPr>
          <p:cNvPr id="4" name="Text 2"/>
          <p:cNvSpPr/>
          <p:nvPr/>
        </p:nvSpPr>
        <p:spPr>
          <a:xfrm>
            <a:off x="770334" y="2840117"/>
            <a:ext cx="3778568" cy="453866"/>
          </a:xfrm>
          <a:prstGeom prst="rect">
            <a:avLst/>
          </a:prstGeom>
          <a:noFill/>
          <a:ln/>
        </p:spPr>
        <p:txBody>
          <a:bodyPr wrap="none" lIns="0" tIns="0" rIns="0" bIns="0" rtlCol="0" anchor="t"/>
          <a:lstStyle/>
          <a:p>
            <a:pPr marL="0" indent="0" algn="l">
              <a:lnSpc>
                <a:spcPts val="3550"/>
              </a:lnSpc>
              <a:buNone/>
            </a:pPr>
            <a:r>
              <a:rPr lang="en-US" sz="2850" b="1" dirty="0">
                <a:solidFill>
                  <a:srgbClr val="F95F88"/>
                </a:solidFill>
                <a:latin typeface="Arial" panose="020B0604020202020204" pitchFamily="34" charset="0"/>
                <a:ea typeface="Petrona Bold" pitchFamily="34" charset="-122"/>
                <a:cs typeface="Arial" panose="020B0604020202020204" pitchFamily="34" charset="0"/>
              </a:rPr>
              <a:t>Kịch bản Demo chi tiết</a:t>
            </a:r>
            <a:endParaRPr lang="en-US" sz="2850" dirty="0">
              <a:latin typeface="Arial" panose="020B0604020202020204" pitchFamily="34" charset="0"/>
              <a:cs typeface="Arial" panose="020B0604020202020204" pitchFamily="34" charset="0"/>
            </a:endParaRPr>
          </a:p>
        </p:txBody>
      </p:sp>
      <p:sp>
        <p:nvSpPr>
          <p:cNvPr id="5" name="Text 3"/>
          <p:cNvSpPr/>
          <p:nvPr/>
        </p:nvSpPr>
        <p:spPr>
          <a:xfrm>
            <a:off x="770334" y="3614261"/>
            <a:ext cx="220028" cy="275034"/>
          </a:xfrm>
          <a:prstGeom prst="rect">
            <a:avLst/>
          </a:prstGeom>
          <a:noFill/>
          <a:ln/>
        </p:spPr>
        <p:txBody>
          <a:bodyPr wrap="none" lIns="0" tIns="0" rIns="0" bIns="0" rtlCol="0" anchor="t"/>
          <a:lstStyle/>
          <a:p>
            <a:pPr marL="0" indent="0" algn="l">
              <a:lnSpc>
                <a:spcPts val="2700"/>
              </a:lnSpc>
              <a:buNone/>
            </a:pPr>
            <a:r>
              <a:rPr lang="en-US" sz="1700" dirty="0">
                <a:solidFill>
                  <a:srgbClr val="272525"/>
                </a:solidFill>
                <a:latin typeface="Petrona Light" pitchFamily="34" charset="0"/>
                <a:ea typeface="Petrona Light" pitchFamily="34" charset="-122"/>
                <a:cs typeface="Petrona Light" pitchFamily="34" charset="-120"/>
              </a:rPr>
              <a:t>01</a:t>
            </a:r>
            <a:endParaRPr lang="en-US" sz="1700" dirty="0"/>
          </a:p>
        </p:txBody>
      </p:sp>
      <p:sp>
        <p:nvSpPr>
          <p:cNvPr id="6" name="Shape 4"/>
          <p:cNvSpPr/>
          <p:nvPr/>
        </p:nvSpPr>
        <p:spPr>
          <a:xfrm>
            <a:off x="770334" y="3957757"/>
            <a:ext cx="4220885" cy="30480"/>
          </a:xfrm>
          <a:prstGeom prst="rect">
            <a:avLst/>
          </a:prstGeom>
          <a:solidFill>
            <a:srgbClr val="6237C8"/>
          </a:solidFill>
          <a:ln/>
        </p:spPr>
        <p:txBody>
          <a:bodyPr/>
          <a:lstStyle/>
          <a:p>
            <a:endParaRPr lang="vi-VN"/>
          </a:p>
        </p:txBody>
      </p:sp>
      <p:sp>
        <p:nvSpPr>
          <p:cNvPr id="7" name="Text 5"/>
          <p:cNvSpPr/>
          <p:nvPr/>
        </p:nvSpPr>
        <p:spPr>
          <a:xfrm>
            <a:off x="770334" y="4128730"/>
            <a:ext cx="3246001" cy="378262"/>
          </a:xfrm>
          <a:prstGeom prst="rect">
            <a:avLst/>
          </a:prstGeom>
          <a:noFill/>
          <a:ln/>
        </p:spPr>
        <p:txBody>
          <a:bodyPr wrap="none" lIns="0" tIns="0" rIns="0" bIns="0" rtlCol="0" anchor="t"/>
          <a:lstStyle/>
          <a:p>
            <a:pPr marL="0" indent="0" algn="l">
              <a:lnSpc>
                <a:spcPts val="2950"/>
              </a:lnSpc>
              <a:buNone/>
            </a:pPr>
            <a:r>
              <a:rPr lang="en-US" sz="2350" b="1">
                <a:solidFill>
                  <a:srgbClr val="272525"/>
                </a:solidFill>
                <a:latin typeface="Arial" panose="020B0604020202020204" pitchFamily="34" charset="0"/>
                <a:ea typeface="Petrona Bold" pitchFamily="34" charset="-122"/>
                <a:cs typeface="Arial" panose="020B0604020202020204" pitchFamily="34" charset="0"/>
              </a:rPr>
              <a:t>Khởi chạy chương trình</a:t>
            </a:r>
            <a:endParaRPr lang="en-US" sz="2350" dirty="0">
              <a:latin typeface="Arial" panose="020B0604020202020204" pitchFamily="34" charset="0"/>
              <a:cs typeface="Arial" panose="020B0604020202020204" pitchFamily="34" charset="0"/>
            </a:endParaRPr>
          </a:p>
        </p:txBody>
      </p:sp>
      <p:sp>
        <p:nvSpPr>
          <p:cNvPr id="8" name="Text 6"/>
          <p:cNvSpPr/>
          <p:nvPr/>
        </p:nvSpPr>
        <p:spPr>
          <a:xfrm>
            <a:off x="770334" y="4635103"/>
            <a:ext cx="4220885" cy="693896"/>
          </a:xfrm>
          <a:prstGeom prst="rect">
            <a:avLst/>
          </a:prstGeom>
          <a:noFill/>
          <a:ln/>
        </p:spPr>
        <p:txBody>
          <a:bodyPr wrap="square" lIns="0" tIns="0" rIns="0" bIns="0" rtlCol="0" anchor="t"/>
          <a:lstStyle/>
          <a:p>
            <a:pPr>
              <a:lnSpc>
                <a:spcPts val="2700"/>
              </a:lnSpc>
            </a:pPr>
            <a:r>
              <a:rPr lang="en-US" sz="1700">
                <a:solidFill>
                  <a:srgbClr val="272525"/>
                </a:solidFill>
                <a:latin typeface="Inter" pitchFamily="34" charset="0"/>
                <a:ea typeface="Inter" pitchFamily="34" charset="-122"/>
                <a:cs typeface="Inter" pitchFamily="34" charset="-120"/>
              </a:rPr>
              <a:t>Hiển thị menu chính với các chức năng FR1–FR8.</a:t>
            </a:r>
            <a:endParaRPr lang="en-US" sz="1700" dirty="0"/>
          </a:p>
        </p:txBody>
      </p:sp>
      <p:sp>
        <p:nvSpPr>
          <p:cNvPr id="9" name="Text 7"/>
          <p:cNvSpPr/>
          <p:nvPr/>
        </p:nvSpPr>
        <p:spPr>
          <a:xfrm>
            <a:off x="5204698" y="3614261"/>
            <a:ext cx="220028" cy="275034"/>
          </a:xfrm>
          <a:prstGeom prst="rect">
            <a:avLst/>
          </a:prstGeom>
          <a:noFill/>
          <a:ln/>
        </p:spPr>
        <p:txBody>
          <a:bodyPr wrap="none" lIns="0" tIns="0" rIns="0" bIns="0" rtlCol="0" anchor="t"/>
          <a:lstStyle/>
          <a:p>
            <a:pPr marL="0" indent="0" algn="l">
              <a:lnSpc>
                <a:spcPts val="2700"/>
              </a:lnSpc>
              <a:buNone/>
            </a:pPr>
            <a:r>
              <a:rPr lang="en-US" sz="1700" dirty="0">
                <a:solidFill>
                  <a:srgbClr val="272525"/>
                </a:solidFill>
                <a:latin typeface="Petrona Light" pitchFamily="34" charset="0"/>
                <a:ea typeface="Petrona Light" pitchFamily="34" charset="-122"/>
                <a:cs typeface="Petrona Light" pitchFamily="34" charset="-120"/>
              </a:rPr>
              <a:t>02</a:t>
            </a:r>
            <a:endParaRPr lang="en-US" sz="1700" dirty="0"/>
          </a:p>
        </p:txBody>
      </p:sp>
      <p:sp>
        <p:nvSpPr>
          <p:cNvPr id="10" name="Shape 8"/>
          <p:cNvSpPr/>
          <p:nvPr/>
        </p:nvSpPr>
        <p:spPr>
          <a:xfrm>
            <a:off x="5204698" y="3957757"/>
            <a:ext cx="4220885" cy="30480"/>
          </a:xfrm>
          <a:prstGeom prst="rect">
            <a:avLst/>
          </a:prstGeom>
          <a:solidFill>
            <a:srgbClr val="6237C8"/>
          </a:solidFill>
          <a:ln/>
        </p:spPr>
        <p:txBody>
          <a:bodyPr/>
          <a:lstStyle/>
          <a:p>
            <a:endParaRPr lang="vi-VN"/>
          </a:p>
        </p:txBody>
      </p:sp>
      <p:sp>
        <p:nvSpPr>
          <p:cNvPr id="11" name="Text 9"/>
          <p:cNvSpPr/>
          <p:nvPr/>
        </p:nvSpPr>
        <p:spPr>
          <a:xfrm>
            <a:off x="5204698" y="4128730"/>
            <a:ext cx="3438049" cy="378262"/>
          </a:xfrm>
          <a:prstGeom prst="rect">
            <a:avLst/>
          </a:prstGeom>
          <a:noFill/>
          <a:ln/>
        </p:spPr>
        <p:txBody>
          <a:bodyPr wrap="none" lIns="0" tIns="0" rIns="0" bIns="0" rtlCol="0" anchor="t"/>
          <a:lstStyle/>
          <a:p>
            <a:pPr marL="0" indent="0" algn="l">
              <a:lnSpc>
                <a:spcPts val="2950"/>
              </a:lnSpc>
              <a:buNone/>
            </a:pPr>
            <a:r>
              <a:rPr lang="en-US" sz="2350" b="1" dirty="0">
                <a:solidFill>
                  <a:srgbClr val="272525"/>
                </a:solidFill>
                <a:latin typeface="Arial" panose="020B0604020202020204" pitchFamily="34" charset="0"/>
                <a:ea typeface="Petrona Bold" pitchFamily="34" charset="-122"/>
                <a:cs typeface="Arial" panose="020B0604020202020204" pitchFamily="34" charset="0"/>
              </a:rPr>
              <a:t>Kiểm tra Validate dữ liệu</a:t>
            </a:r>
            <a:endParaRPr lang="en-US" sz="2350" dirty="0">
              <a:latin typeface="Arial" panose="020B0604020202020204" pitchFamily="34" charset="0"/>
              <a:cs typeface="Arial" panose="020B0604020202020204" pitchFamily="34" charset="0"/>
            </a:endParaRPr>
          </a:p>
        </p:txBody>
      </p:sp>
      <p:sp>
        <p:nvSpPr>
          <p:cNvPr id="12" name="Text 10"/>
          <p:cNvSpPr/>
          <p:nvPr/>
        </p:nvSpPr>
        <p:spPr>
          <a:xfrm>
            <a:off x="5204698" y="4635103"/>
            <a:ext cx="4220885" cy="693896"/>
          </a:xfrm>
          <a:prstGeom prst="rect">
            <a:avLst/>
          </a:prstGeom>
          <a:noFill/>
          <a:ln/>
        </p:spPr>
        <p:txBody>
          <a:bodyPr wrap="square" lIns="0" tIns="0" rIns="0" bIns="0" rtlCol="0" anchor="t"/>
          <a:lstStyle/>
          <a:p>
            <a:pPr>
              <a:lnSpc>
                <a:spcPts val="2700"/>
              </a:lnSpc>
            </a:pPr>
            <a:r>
              <a:rPr lang="en-US" sz="1700">
                <a:solidFill>
                  <a:srgbClr val="272525"/>
                </a:solidFill>
                <a:latin typeface="Inter" pitchFamily="34" charset="0"/>
                <a:ea typeface="Inter" pitchFamily="34" charset="-122"/>
                <a:cs typeface="Inter" pitchFamily="34" charset="-120"/>
              </a:rPr>
              <a:t>Thử nhập dữ liệu sai để minh họa xử lý lỗi và validate.</a:t>
            </a:r>
            <a:endParaRPr lang="en-US" sz="1700" dirty="0"/>
          </a:p>
        </p:txBody>
      </p:sp>
      <p:sp>
        <p:nvSpPr>
          <p:cNvPr id="13" name="Text 11"/>
          <p:cNvSpPr/>
          <p:nvPr/>
        </p:nvSpPr>
        <p:spPr>
          <a:xfrm>
            <a:off x="9639062" y="3614261"/>
            <a:ext cx="220028" cy="275034"/>
          </a:xfrm>
          <a:prstGeom prst="rect">
            <a:avLst/>
          </a:prstGeom>
          <a:noFill/>
          <a:ln/>
        </p:spPr>
        <p:txBody>
          <a:bodyPr wrap="none" lIns="0" tIns="0" rIns="0" bIns="0" rtlCol="0" anchor="t"/>
          <a:lstStyle/>
          <a:p>
            <a:pPr marL="0" indent="0" algn="l">
              <a:lnSpc>
                <a:spcPts val="2700"/>
              </a:lnSpc>
              <a:buNone/>
            </a:pPr>
            <a:r>
              <a:rPr lang="en-US" sz="1700" dirty="0">
                <a:solidFill>
                  <a:srgbClr val="272525"/>
                </a:solidFill>
                <a:latin typeface="Petrona Light" pitchFamily="34" charset="0"/>
                <a:ea typeface="Petrona Light" pitchFamily="34" charset="-122"/>
                <a:cs typeface="Petrona Light" pitchFamily="34" charset="-120"/>
              </a:rPr>
              <a:t>03</a:t>
            </a:r>
            <a:endParaRPr lang="en-US" sz="1700" dirty="0"/>
          </a:p>
        </p:txBody>
      </p:sp>
      <p:sp>
        <p:nvSpPr>
          <p:cNvPr id="14" name="Shape 12"/>
          <p:cNvSpPr/>
          <p:nvPr/>
        </p:nvSpPr>
        <p:spPr>
          <a:xfrm>
            <a:off x="9639062" y="3957757"/>
            <a:ext cx="4220885" cy="30480"/>
          </a:xfrm>
          <a:prstGeom prst="rect">
            <a:avLst/>
          </a:prstGeom>
          <a:solidFill>
            <a:srgbClr val="6237C8"/>
          </a:solidFill>
          <a:ln/>
        </p:spPr>
        <p:txBody>
          <a:bodyPr/>
          <a:lstStyle/>
          <a:p>
            <a:endParaRPr lang="vi-VN"/>
          </a:p>
        </p:txBody>
      </p:sp>
      <p:sp>
        <p:nvSpPr>
          <p:cNvPr id="15" name="Text 13"/>
          <p:cNvSpPr/>
          <p:nvPr/>
        </p:nvSpPr>
        <p:spPr>
          <a:xfrm>
            <a:off x="9639062" y="4128730"/>
            <a:ext cx="3026331" cy="378262"/>
          </a:xfrm>
          <a:prstGeom prst="rect">
            <a:avLst/>
          </a:prstGeom>
          <a:noFill/>
          <a:ln/>
        </p:spPr>
        <p:txBody>
          <a:bodyPr wrap="none" lIns="0" tIns="0" rIns="0" bIns="0" rtlCol="0" anchor="t"/>
          <a:lstStyle/>
          <a:p>
            <a:pPr marL="0" indent="0" algn="l">
              <a:lnSpc>
                <a:spcPts val="2950"/>
              </a:lnSpc>
              <a:buNone/>
            </a:pPr>
            <a:r>
              <a:rPr lang="en-US" sz="2350" b="1">
                <a:solidFill>
                  <a:srgbClr val="272525"/>
                </a:solidFill>
                <a:latin typeface="Arial" panose="020B0604020202020204" pitchFamily="34" charset="0"/>
                <a:ea typeface="Petrona Bold" pitchFamily="34" charset="-122"/>
                <a:cs typeface="Arial" panose="020B0604020202020204" pitchFamily="34" charset="0"/>
              </a:rPr>
              <a:t>Demo chức năng</a:t>
            </a:r>
            <a:endParaRPr lang="en-US" sz="2350" dirty="0">
              <a:latin typeface="Arial" panose="020B0604020202020204" pitchFamily="34" charset="0"/>
              <a:cs typeface="Arial" panose="020B0604020202020204" pitchFamily="34" charset="0"/>
            </a:endParaRPr>
          </a:p>
        </p:txBody>
      </p:sp>
      <p:sp>
        <p:nvSpPr>
          <p:cNvPr id="16" name="Text 14"/>
          <p:cNvSpPr/>
          <p:nvPr/>
        </p:nvSpPr>
        <p:spPr>
          <a:xfrm>
            <a:off x="9639062" y="4635103"/>
            <a:ext cx="4220885" cy="693896"/>
          </a:xfrm>
          <a:prstGeom prst="rect">
            <a:avLst/>
          </a:prstGeom>
          <a:noFill/>
          <a:ln/>
        </p:spPr>
        <p:txBody>
          <a:bodyPr wrap="square" lIns="0" tIns="0" rIns="0" bIns="0" rtlCol="0" anchor="t"/>
          <a:lstStyle/>
          <a:p>
            <a:pPr>
              <a:lnSpc>
                <a:spcPts val="2700"/>
              </a:lnSpc>
            </a:pPr>
            <a:r>
              <a:rPr lang="vi-VN" sz="1600"/>
              <a:t>Chạy nhanh một số chức năng tiêu biểu</a:t>
            </a:r>
            <a:endParaRPr lang="en-US" sz="1700" dirty="0"/>
          </a:p>
        </p:txBody>
      </p:sp>
      <p:sp>
        <p:nvSpPr>
          <p:cNvPr id="21" name="Text 19"/>
          <p:cNvSpPr/>
          <p:nvPr/>
        </p:nvSpPr>
        <p:spPr>
          <a:xfrm>
            <a:off x="770334" y="5771085"/>
            <a:ext cx="220028" cy="275034"/>
          </a:xfrm>
          <a:prstGeom prst="rect">
            <a:avLst/>
          </a:prstGeom>
          <a:noFill/>
          <a:ln/>
        </p:spPr>
        <p:txBody>
          <a:bodyPr wrap="none" lIns="0" tIns="0" rIns="0" bIns="0" rtlCol="0" anchor="t"/>
          <a:lstStyle/>
          <a:p>
            <a:pPr marL="0" indent="0" algn="l">
              <a:lnSpc>
                <a:spcPts val="2700"/>
              </a:lnSpc>
              <a:buNone/>
            </a:pPr>
            <a:r>
              <a:rPr lang="en-US" sz="1700">
                <a:solidFill>
                  <a:srgbClr val="272525"/>
                </a:solidFill>
                <a:latin typeface="Petrona Light" pitchFamily="34" charset="0"/>
                <a:ea typeface="Petrona Light" pitchFamily="34" charset="-122"/>
                <a:cs typeface="Petrona Light" pitchFamily="34" charset="-120"/>
              </a:rPr>
              <a:t>04</a:t>
            </a:r>
            <a:endParaRPr lang="en-US" sz="1700" dirty="0"/>
          </a:p>
        </p:txBody>
      </p:sp>
      <p:sp>
        <p:nvSpPr>
          <p:cNvPr id="22" name="Shape 20"/>
          <p:cNvSpPr/>
          <p:nvPr/>
        </p:nvSpPr>
        <p:spPr>
          <a:xfrm>
            <a:off x="770334" y="6114580"/>
            <a:ext cx="6438067" cy="30480"/>
          </a:xfrm>
          <a:prstGeom prst="rect">
            <a:avLst/>
          </a:prstGeom>
          <a:solidFill>
            <a:srgbClr val="6237C8"/>
          </a:solidFill>
          <a:ln/>
        </p:spPr>
        <p:txBody>
          <a:bodyPr/>
          <a:lstStyle/>
          <a:p>
            <a:endParaRPr lang="vi-VN"/>
          </a:p>
        </p:txBody>
      </p:sp>
      <p:sp>
        <p:nvSpPr>
          <p:cNvPr id="23" name="Text 21"/>
          <p:cNvSpPr/>
          <p:nvPr/>
        </p:nvSpPr>
        <p:spPr>
          <a:xfrm>
            <a:off x="770334" y="6285554"/>
            <a:ext cx="3026331" cy="378262"/>
          </a:xfrm>
          <a:prstGeom prst="rect">
            <a:avLst/>
          </a:prstGeom>
          <a:noFill/>
          <a:ln/>
        </p:spPr>
        <p:txBody>
          <a:bodyPr wrap="none" lIns="0" tIns="0" rIns="0" bIns="0" rtlCol="0" anchor="t"/>
          <a:lstStyle/>
          <a:p>
            <a:pPr marL="0" indent="0" algn="l">
              <a:lnSpc>
                <a:spcPts val="2950"/>
              </a:lnSpc>
              <a:buNone/>
            </a:pPr>
            <a:r>
              <a:rPr lang="en-US" sz="2350" b="1" dirty="0">
                <a:solidFill>
                  <a:srgbClr val="272525"/>
                </a:solidFill>
                <a:latin typeface="Arial" panose="020B0604020202020204" pitchFamily="34" charset="0"/>
                <a:ea typeface="Petrona Bold" pitchFamily="34" charset="-122"/>
                <a:cs typeface="Arial" panose="020B0604020202020204" pitchFamily="34" charset="0"/>
              </a:rPr>
              <a:t>Thoát chương trình</a:t>
            </a:r>
            <a:endParaRPr lang="en-US" sz="2350" dirty="0">
              <a:latin typeface="Arial" panose="020B0604020202020204" pitchFamily="34" charset="0"/>
              <a:cs typeface="Arial" panose="020B0604020202020204" pitchFamily="34" charset="0"/>
            </a:endParaRPr>
          </a:p>
        </p:txBody>
      </p:sp>
      <p:sp>
        <p:nvSpPr>
          <p:cNvPr id="24" name="Text 22"/>
          <p:cNvSpPr/>
          <p:nvPr/>
        </p:nvSpPr>
        <p:spPr>
          <a:xfrm>
            <a:off x="770334" y="6791927"/>
            <a:ext cx="6438067" cy="346948"/>
          </a:xfrm>
          <a:prstGeom prst="rect">
            <a:avLst/>
          </a:prstGeom>
          <a:noFill/>
          <a:ln/>
        </p:spPr>
        <p:txBody>
          <a:bodyPr wrap="none" lIns="0" tIns="0" rIns="0" bIns="0" rtlCol="0" anchor="t"/>
          <a:lstStyle/>
          <a:p>
            <a:pPr marL="0" indent="0" algn="l">
              <a:lnSpc>
                <a:spcPts val="2700"/>
              </a:lnSpc>
              <a:buNone/>
            </a:pPr>
            <a:r>
              <a:rPr lang="en-US" sz="1700" dirty="0">
                <a:solidFill>
                  <a:srgbClr val="272525"/>
                </a:solidFill>
                <a:latin typeface="Inter" pitchFamily="34" charset="0"/>
                <a:ea typeface="Inter" pitchFamily="34" charset="-122"/>
                <a:cs typeface="Inter" pitchFamily="34" charset="-120"/>
              </a:rPr>
              <a:t>Kết thúc ứng dụng một cách an toàn.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2158008" y="434816"/>
            <a:ext cx="6185654" cy="513874"/>
          </a:xfrm>
          <a:prstGeom prst="rect">
            <a:avLst/>
          </a:prstGeom>
          <a:noFill/>
          <a:ln/>
        </p:spPr>
        <p:txBody>
          <a:bodyPr wrap="none" lIns="0" tIns="0" rIns="0" bIns="0" rtlCol="0" anchor="t"/>
          <a:lstStyle/>
          <a:p>
            <a:pPr marL="0" indent="0" algn="l">
              <a:lnSpc>
                <a:spcPts val="4000"/>
              </a:lnSpc>
              <a:buNone/>
            </a:pPr>
            <a:r>
              <a:rPr lang="en-US" sz="3200" b="1" dirty="0">
                <a:solidFill>
                  <a:srgbClr val="F95F88"/>
                </a:solidFill>
                <a:latin typeface="Arial" panose="020B0604020202020204" pitchFamily="34" charset="0"/>
                <a:ea typeface="Petrona Bold" pitchFamily="34" charset="-122"/>
                <a:cs typeface="Arial" panose="020B0604020202020204" pitchFamily="34" charset="0"/>
              </a:rPr>
              <a:t>Khó khăn &amp; Bài học kinh nghiệm</a:t>
            </a:r>
            <a:endParaRPr lang="en-US" sz="3200" dirty="0">
              <a:latin typeface="Arial" panose="020B0604020202020204" pitchFamily="34" charset="0"/>
              <a:cs typeface="Arial" panose="020B0604020202020204" pitchFamily="34" charset="0"/>
            </a:endParaRPr>
          </a:p>
        </p:txBody>
      </p:sp>
      <p:sp>
        <p:nvSpPr>
          <p:cNvPr id="4" name="Text 1"/>
          <p:cNvSpPr/>
          <p:nvPr/>
        </p:nvSpPr>
        <p:spPr>
          <a:xfrm>
            <a:off x="2158008" y="1813407"/>
            <a:ext cx="2466499" cy="308372"/>
          </a:xfrm>
          <a:prstGeom prst="rect">
            <a:avLst/>
          </a:prstGeom>
          <a:noFill/>
          <a:ln/>
        </p:spPr>
        <p:txBody>
          <a:bodyPr wrap="none" lIns="0" tIns="0" rIns="0" bIns="0" rtlCol="0" anchor="t"/>
          <a:lstStyle/>
          <a:p>
            <a:pPr marL="0" indent="0" algn="l">
              <a:lnSpc>
                <a:spcPts val="2400"/>
              </a:lnSpc>
              <a:buNone/>
            </a:pPr>
            <a:r>
              <a:rPr lang="en-US" sz="2800" b="1" dirty="0">
                <a:solidFill>
                  <a:srgbClr val="F95F88"/>
                </a:solidFill>
                <a:latin typeface="Arial" panose="020B0604020202020204" pitchFamily="34" charset="0"/>
                <a:ea typeface="Petrona Bold" pitchFamily="34" charset="-122"/>
                <a:cs typeface="Arial" panose="020B0604020202020204" pitchFamily="34" charset="0"/>
              </a:rPr>
              <a:t>Khó khăn gặp phải</a:t>
            </a:r>
            <a:endParaRPr lang="en-US" sz="2800" dirty="0">
              <a:latin typeface="Arial" panose="020B0604020202020204" pitchFamily="34" charset="0"/>
              <a:cs typeface="Arial" panose="020B0604020202020204" pitchFamily="34" charset="0"/>
            </a:endParaRPr>
          </a:p>
        </p:txBody>
      </p:sp>
      <p:sp>
        <p:nvSpPr>
          <p:cNvPr id="5" name="Text 2"/>
          <p:cNvSpPr/>
          <p:nvPr/>
        </p:nvSpPr>
        <p:spPr>
          <a:xfrm>
            <a:off x="2158008" y="2220243"/>
            <a:ext cx="4974908" cy="3798591"/>
          </a:xfrm>
          <a:prstGeom prst="rect">
            <a:avLst/>
          </a:prstGeom>
          <a:noFill/>
          <a:ln/>
        </p:spPr>
        <p:txBody>
          <a:bodyPr wrap="square" lIns="0" tIns="0" rIns="0" bIns="0" rtlCol="0" anchor="t"/>
          <a:lstStyle/>
          <a:p>
            <a:pPr marL="342900" indent="-342900">
              <a:lnSpc>
                <a:spcPct val="200000"/>
              </a:lnSpc>
              <a:buSzPct val="100000"/>
              <a:buChar char="•"/>
            </a:pPr>
            <a:r>
              <a:rPr lang="vi-VN">
                <a:solidFill>
                  <a:srgbClr val="272525"/>
                </a:solidFill>
                <a:latin typeface="Inter" pitchFamily="34" charset="0"/>
                <a:ea typeface="Inter" pitchFamily="34" charset="-122"/>
                <a:cs typeface="Inter" pitchFamily="34" charset="-120"/>
              </a:rPr>
              <a:t>Thời gian thực hiện ngắn, khó hoàn thiện đầy đủ ý tưởng</a:t>
            </a:r>
          </a:p>
          <a:p>
            <a:pPr marL="342900" indent="-342900">
              <a:lnSpc>
                <a:spcPct val="200000"/>
              </a:lnSpc>
              <a:buSzPct val="100000"/>
              <a:buChar char="•"/>
            </a:pPr>
            <a:r>
              <a:rPr lang="vi-VN">
                <a:solidFill>
                  <a:srgbClr val="272525"/>
                </a:solidFill>
                <a:latin typeface="Inter" pitchFamily="34" charset="0"/>
                <a:ea typeface="Inter" pitchFamily="34" charset="-122"/>
                <a:cs typeface="Inter" pitchFamily="34" charset="-120"/>
              </a:rPr>
              <a:t>Một số thành viên không tham gia đầy đủ, ảnh hưởng tiến độ chung</a:t>
            </a:r>
          </a:p>
          <a:p>
            <a:pPr marL="342900" indent="-342900">
              <a:lnSpc>
                <a:spcPct val="200000"/>
              </a:lnSpc>
              <a:buSzPct val="100000"/>
              <a:buChar char="•"/>
            </a:pPr>
            <a:r>
              <a:rPr lang="vi-VN">
                <a:solidFill>
                  <a:srgbClr val="272525"/>
                </a:solidFill>
                <a:latin typeface="Inter" pitchFamily="34" charset="0"/>
                <a:ea typeface="Inter" pitchFamily="34" charset="-122"/>
                <a:cs typeface="Inter" pitchFamily="34" charset="-120"/>
              </a:rPr>
              <a:t>Khó phân chia công việc trong nhóm, vai trò chưa rõ ràng</a:t>
            </a:r>
            <a:endParaRPr lang="en-US" dirty="0"/>
          </a:p>
        </p:txBody>
      </p:sp>
      <p:sp>
        <p:nvSpPr>
          <p:cNvPr id="11" name="Text 1">
            <a:extLst>
              <a:ext uri="{FF2B5EF4-FFF2-40B4-BE49-F238E27FC236}">
                <a16:creationId xmlns:a16="http://schemas.microsoft.com/office/drawing/2014/main" id="{AE86F078-7882-FB47-0453-203C9181A8E5}"/>
              </a:ext>
            </a:extLst>
          </p:cNvPr>
          <p:cNvSpPr/>
          <p:nvPr/>
        </p:nvSpPr>
        <p:spPr>
          <a:xfrm>
            <a:off x="7681061" y="1813407"/>
            <a:ext cx="2466499" cy="308372"/>
          </a:xfrm>
          <a:prstGeom prst="rect">
            <a:avLst/>
          </a:prstGeom>
          <a:noFill/>
          <a:ln/>
        </p:spPr>
        <p:txBody>
          <a:bodyPr wrap="none" lIns="0" tIns="0" rIns="0" bIns="0" rtlCol="0" anchor="t"/>
          <a:lstStyle/>
          <a:p>
            <a:pPr marL="0" indent="0" algn="l">
              <a:lnSpc>
                <a:spcPts val="2400"/>
              </a:lnSpc>
              <a:buNone/>
            </a:pPr>
            <a:r>
              <a:rPr lang="en-US" sz="2800" b="1">
                <a:solidFill>
                  <a:srgbClr val="F95F88"/>
                </a:solidFill>
                <a:latin typeface="Arial" panose="020B0604020202020204" pitchFamily="34" charset="0"/>
                <a:ea typeface="Petrona Bold" pitchFamily="34" charset="-122"/>
                <a:cs typeface="Arial" panose="020B0604020202020204" pitchFamily="34" charset="0"/>
              </a:rPr>
              <a:t>Bài học rút ra</a:t>
            </a:r>
            <a:endParaRPr lang="en-US" sz="2800" dirty="0">
              <a:latin typeface="Arial" panose="020B0604020202020204" pitchFamily="34" charset="0"/>
              <a:cs typeface="Arial" panose="020B0604020202020204" pitchFamily="34" charset="0"/>
            </a:endParaRPr>
          </a:p>
        </p:txBody>
      </p:sp>
      <p:sp>
        <p:nvSpPr>
          <p:cNvPr id="12" name="Text 2">
            <a:extLst>
              <a:ext uri="{FF2B5EF4-FFF2-40B4-BE49-F238E27FC236}">
                <a16:creationId xmlns:a16="http://schemas.microsoft.com/office/drawing/2014/main" id="{BEB20133-9ADF-0EA6-2816-0240F79F135A}"/>
              </a:ext>
            </a:extLst>
          </p:cNvPr>
          <p:cNvSpPr/>
          <p:nvPr/>
        </p:nvSpPr>
        <p:spPr>
          <a:xfrm>
            <a:off x="7681061" y="2220243"/>
            <a:ext cx="5375182" cy="3798591"/>
          </a:xfrm>
          <a:prstGeom prst="rect">
            <a:avLst/>
          </a:prstGeom>
          <a:noFill/>
          <a:ln/>
        </p:spPr>
        <p:txBody>
          <a:bodyPr wrap="square" lIns="0" tIns="0" rIns="0" bIns="0" rtlCol="0" anchor="t"/>
          <a:lstStyle/>
          <a:p>
            <a:pPr marL="342900" indent="-342900">
              <a:lnSpc>
                <a:spcPct val="200000"/>
              </a:lnSpc>
              <a:buSzPct val="100000"/>
              <a:buChar char="•"/>
            </a:pPr>
            <a:r>
              <a:rPr lang="vi-VN">
                <a:solidFill>
                  <a:srgbClr val="272525"/>
                </a:solidFill>
                <a:latin typeface="Inter" pitchFamily="34" charset="0"/>
                <a:ea typeface="Inter" pitchFamily="34" charset="-122"/>
                <a:cs typeface="Inter" pitchFamily="34" charset="-120"/>
              </a:rPr>
              <a:t>Cần phân công nhiệm vụ rõ ràng ngay từ đầu</a:t>
            </a:r>
          </a:p>
          <a:p>
            <a:pPr marL="342900" indent="-342900">
              <a:lnSpc>
                <a:spcPct val="200000"/>
              </a:lnSpc>
              <a:buSzPct val="100000"/>
              <a:buChar char="•"/>
            </a:pPr>
            <a:r>
              <a:rPr lang="vi-VN">
                <a:solidFill>
                  <a:srgbClr val="272525"/>
                </a:solidFill>
                <a:latin typeface="Inter" pitchFamily="34" charset="0"/>
                <a:ea typeface="Inter" pitchFamily="34" charset="-122"/>
                <a:cs typeface="Inter" pitchFamily="34" charset="-120"/>
              </a:rPr>
              <a:t>Chủ động quản lý thời gian và theo dõi tiến độ</a:t>
            </a:r>
          </a:p>
          <a:p>
            <a:pPr marL="342900" indent="-342900">
              <a:lnSpc>
                <a:spcPct val="200000"/>
              </a:lnSpc>
              <a:buSzPct val="100000"/>
              <a:buChar char="•"/>
            </a:pPr>
            <a:r>
              <a:rPr lang="vi-VN">
                <a:solidFill>
                  <a:srgbClr val="272525"/>
                </a:solidFill>
                <a:latin typeface="Inter" pitchFamily="34" charset="0"/>
                <a:ea typeface="Inter" pitchFamily="34" charset="-122"/>
                <a:cs typeface="Inter" pitchFamily="34" charset="-120"/>
              </a:rPr>
              <a:t>Tăng tinh thần làm việc nhóm và trách nhiệm cá nhân</a:t>
            </a:r>
          </a:p>
          <a:p>
            <a:pPr marL="342900" indent="-342900">
              <a:lnSpc>
                <a:spcPct val="200000"/>
              </a:lnSpc>
              <a:buSzPct val="100000"/>
              <a:buChar char="•"/>
            </a:pPr>
            <a:r>
              <a:rPr lang="vi-VN">
                <a:solidFill>
                  <a:srgbClr val="272525"/>
                </a:solidFill>
                <a:latin typeface="Inter" pitchFamily="34" charset="0"/>
                <a:ea typeface="Inter" pitchFamily="34" charset="-122"/>
                <a:cs typeface="Inter" pitchFamily="34" charset="-120"/>
              </a:rPr>
              <a:t>Ưu tiên hoàn thành chức năng cốt lõi trước</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555665" y="1605439"/>
            <a:ext cx="6143149" cy="545663"/>
          </a:xfrm>
          <a:prstGeom prst="rect">
            <a:avLst/>
          </a:prstGeom>
          <a:noFill/>
          <a:ln/>
        </p:spPr>
        <p:txBody>
          <a:bodyPr wrap="none" lIns="0" tIns="0" rIns="0" bIns="0" rtlCol="0" anchor="t"/>
          <a:lstStyle/>
          <a:p>
            <a:pPr marL="0" indent="0" algn="l">
              <a:lnSpc>
                <a:spcPts val="4250"/>
              </a:lnSpc>
              <a:buNone/>
            </a:pPr>
            <a:r>
              <a:rPr lang="en-US" sz="3400" b="1" dirty="0">
                <a:solidFill>
                  <a:srgbClr val="F95F88"/>
                </a:solidFill>
                <a:latin typeface="Arial" panose="020B0604020202020204" pitchFamily="34" charset="0"/>
                <a:ea typeface="Petrona Bold" pitchFamily="34" charset="-122"/>
                <a:cs typeface="Arial" panose="020B0604020202020204" pitchFamily="34" charset="0"/>
              </a:rPr>
              <a:t>Hướng phát triển &amp; Lời cảm ơn</a:t>
            </a:r>
            <a:endParaRPr lang="en-US" sz="3400" dirty="0">
              <a:latin typeface="Arial" panose="020B0604020202020204" pitchFamily="34" charset="0"/>
              <a:cs typeface="Arial" panose="020B0604020202020204" pitchFamily="34" charset="0"/>
            </a:endParaRPr>
          </a:p>
        </p:txBody>
      </p:sp>
      <p:sp>
        <p:nvSpPr>
          <p:cNvPr id="4" name="Shape 1"/>
          <p:cNvSpPr/>
          <p:nvPr/>
        </p:nvSpPr>
        <p:spPr>
          <a:xfrm>
            <a:off x="555665" y="2555915"/>
            <a:ext cx="3960733" cy="1349454"/>
          </a:xfrm>
          <a:prstGeom prst="roundRect">
            <a:avLst>
              <a:gd name="adj" fmla="val 8131"/>
            </a:avLst>
          </a:prstGeom>
          <a:solidFill>
            <a:srgbClr val="FDFAF7"/>
          </a:solidFill>
          <a:ln/>
        </p:spPr>
        <p:txBody>
          <a:bodyPr/>
          <a:lstStyle/>
          <a:p>
            <a:endParaRPr lang="vi-VN"/>
          </a:p>
        </p:txBody>
      </p:sp>
      <p:sp>
        <p:nvSpPr>
          <p:cNvPr id="5" name="Shape 2"/>
          <p:cNvSpPr/>
          <p:nvPr/>
        </p:nvSpPr>
        <p:spPr>
          <a:xfrm>
            <a:off x="555665" y="2533055"/>
            <a:ext cx="3960733" cy="91440"/>
          </a:xfrm>
          <a:prstGeom prst="roundRect">
            <a:avLst>
              <a:gd name="adj" fmla="val 72924"/>
            </a:avLst>
          </a:prstGeom>
          <a:solidFill>
            <a:srgbClr val="6237C8"/>
          </a:solidFill>
          <a:ln/>
        </p:spPr>
        <p:txBody>
          <a:bodyPr/>
          <a:lstStyle/>
          <a:p>
            <a:endParaRPr lang="vi-VN"/>
          </a:p>
        </p:txBody>
      </p:sp>
      <p:sp>
        <p:nvSpPr>
          <p:cNvPr id="6" name="Shape 3"/>
          <p:cNvSpPr/>
          <p:nvPr/>
        </p:nvSpPr>
        <p:spPr>
          <a:xfrm>
            <a:off x="2297906" y="2317790"/>
            <a:ext cx="476250" cy="476250"/>
          </a:xfrm>
          <a:prstGeom prst="roundRect">
            <a:avLst>
              <a:gd name="adj" fmla="val 192000"/>
            </a:avLst>
          </a:prstGeom>
          <a:solidFill>
            <a:srgbClr val="6237C8"/>
          </a:solidFill>
          <a:ln/>
        </p:spPr>
        <p:txBody>
          <a:bodyPr/>
          <a:lstStyle/>
          <a:p>
            <a:endParaRPr lang="vi-VN"/>
          </a:p>
        </p:txBody>
      </p:sp>
      <p:pic>
        <p:nvPicPr>
          <p:cNvPr id="7" name="Image 1"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40781" y="2460665"/>
            <a:ext cx="190500" cy="190500"/>
          </a:xfrm>
          <a:prstGeom prst="rect">
            <a:avLst/>
          </a:prstGeom>
        </p:spPr>
      </p:pic>
      <p:sp>
        <p:nvSpPr>
          <p:cNvPr id="8" name="Text 4"/>
          <p:cNvSpPr/>
          <p:nvPr/>
        </p:nvSpPr>
        <p:spPr>
          <a:xfrm>
            <a:off x="737235" y="2952750"/>
            <a:ext cx="2183011" cy="272891"/>
          </a:xfrm>
          <a:prstGeom prst="rect">
            <a:avLst/>
          </a:prstGeom>
          <a:noFill/>
          <a:ln/>
        </p:spPr>
        <p:txBody>
          <a:bodyPr wrap="none" lIns="0" tIns="0" rIns="0" bIns="0" rtlCol="0" anchor="t"/>
          <a:lstStyle/>
          <a:p>
            <a:pPr marL="0" indent="0" algn="l">
              <a:lnSpc>
                <a:spcPts val="2100"/>
              </a:lnSpc>
              <a:buNone/>
            </a:pPr>
            <a:r>
              <a:rPr lang="en-US" sz="2400" b="1">
                <a:solidFill>
                  <a:srgbClr val="272525"/>
                </a:solidFill>
                <a:latin typeface="Arial" panose="020B0604020202020204" pitchFamily="34" charset="0"/>
                <a:ea typeface="Petrona Bold" pitchFamily="34" charset="-122"/>
                <a:cs typeface="Arial" panose="020B0604020202020204" pitchFamily="34" charset="0"/>
              </a:rPr>
              <a:t>Hướng phát triển</a:t>
            </a:r>
            <a:endParaRPr lang="en-US" sz="2400" dirty="0">
              <a:latin typeface="Arial" panose="020B0604020202020204" pitchFamily="34" charset="0"/>
              <a:cs typeface="Arial" panose="020B0604020202020204" pitchFamily="34" charset="0"/>
            </a:endParaRPr>
          </a:p>
        </p:txBody>
      </p:sp>
      <p:sp>
        <p:nvSpPr>
          <p:cNvPr id="9" name="Text 5"/>
          <p:cNvSpPr/>
          <p:nvPr/>
        </p:nvSpPr>
        <p:spPr>
          <a:xfrm>
            <a:off x="737235" y="3327041"/>
            <a:ext cx="7669530" cy="1131808"/>
          </a:xfrm>
          <a:prstGeom prst="rect">
            <a:avLst/>
          </a:prstGeom>
          <a:noFill/>
          <a:ln/>
        </p:spPr>
        <p:txBody>
          <a:bodyPr wrap="square" lIns="0" tIns="0" rIns="0" bIns="0" rtlCol="0" anchor="t"/>
          <a:lstStyle/>
          <a:p>
            <a:pPr marL="285750" indent="-285750">
              <a:lnSpc>
                <a:spcPct val="200000"/>
              </a:lnSpc>
              <a:buFont typeface="Arial" panose="020B0604020202020204" pitchFamily="34" charset="0"/>
              <a:buChar char="•"/>
            </a:pPr>
            <a:r>
              <a:rPr lang="vi-VN" sz="1600">
                <a:solidFill>
                  <a:srgbClr val="272525"/>
                </a:solidFill>
                <a:latin typeface="Inter" pitchFamily="34" charset="0"/>
                <a:ea typeface="Inter" pitchFamily="34" charset="-122"/>
                <a:cs typeface="Inter" pitchFamily="34" charset="-120"/>
              </a:rPr>
              <a:t>Thay thế mảng bằng ArrayList để quản lý dữ liệu linh hoạt hơn</a:t>
            </a:r>
          </a:p>
          <a:p>
            <a:pPr marL="285750" indent="-285750">
              <a:lnSpc>
                <a:spcPct val="200000"/>
              </a:lnSpc>
              <a:buFont typeface="Arial" panose="020B0604020202020204" pitchFamily="34" charset="0"/>
              <a:buChar char="•"/>
            </a:pPr>
            <a:r>
              <a:rPr lang="vi-VN" sz="1600">
                <a:solidFill>
                  <a:srgbClr val="272525"/>
                </a:solidFill>
                <a:latin typeface="Inter" pitchFamily="34" charset="0"/>
                <a:ea typeface="Inter" pitchFamily="34" charset="-122"/>
                <a:cs typeface="Inter" pitchFamily="34" charset="-120"/>
              </a:rPr>
              <a:t>Thêm chức năng lưu/đọc dữ liệu từ file (text, CSV)</a:t>
            </a:r>
          </a:p>
          <a:p>
            <a:pPr marL="285750" indent="-285750">
              <a:lnSpc>
                <a:spcPct val="200000"/>
              </a:lnSpc>
              <a:buFont typeface="Arial" panose="020B0604020202020204" pitchFamily="34" charset="0"/>
              <a:buChar char="•"/>
            </a:pPr>
            <a:r>
              <a:rPr lang="vi-VN" sz="1600">
                <a:solidFill>
                  <a:srgbClr val="272525"/>
                </a:solidFill>
                <a:latin typeface="Inter" pitchFamily="34" charset="0"/>
                <a:ea typeface="Inter" pitchFamily="34" charset="-122"/>
                <a:cs typeface="Inter" pitchFamily="34" charset="-120"/>
              </a:rPr>
              <a:t>Nâng cấp tìm kiếm và sắp xếp (theo khoảng điểm, theo xếp loại)</a:t>
            </a:r>
          </a:p>
          <a:p>
            <a:pPr marL="285750" indent="-285750">
              <a:lnSpc>
                <a:spcPct val="200000"/>
              </a:lnSpc>
              <a:buFont typeface="Arial" panose="020B0604020202020204" pitchFamily="34" charset="0"/>
              <a:buChar char="•"/>
            </a:pPr>
            <a:r>
              <a:rPr lang="vi-VN" sz="1600">
                <a:solidFill>
                  <a:srgbClr val="272525"/>
                </a:solidFill>
                <a:latin typeface="Inter" pitchFamily="34" charset="0"/>
                <a:ea typeface="Inter" pitchFamily="34" charset="-122"/>
                <a:cs typeface="Inter" pitchFamily="34" charset="-120"/>
              </a:rPr>
              <a:t>Phát triển giao diện đồ họa (GUI) hoặc kết nối cơ sở dữ liệu</a:t>
            </a:r>
          </a:p>
          <a:p>
            <a:pPr marL="285750" indent="-285750">
              <a:lnSpc>
                <a:spcPct val="200000"/>
              </a:lnSpc>
              <a:buFont typeface="Arial" panose="020B0604020202020204" pitchFamily="34" charset="0"/>
              <a:buChar char="•"/>
            </a:pPr>
            <a:r>
              <a:rPr lang="vi-VN" sz="1600">
                <a:solidFill>
                  <a:srgbClr val="272525"/>
                </a:solidFill>
                <a:latin typeface="Inter" pitchFamily="34" charset="0"/>
                <a:ea typeface="Inter" pitchFamily="34" charset="-122"/>
                <a:cs typeface="Inter" pitchFamily="34" charset="-120"/>
              </a:rPr>
              <a:t>Mở rộng thành ứng dụng quản lý hoàn chỉnh cho nhiều đối tượng</a:t>
            </a:r>
            <a:endParaRPr lang="en-US" sz="1600" dirty="0"/>
          </a:p>
        </p:txBody>
      </p:sp>
      <p:pic>
        <p:nvPicPr>
          <p:cNvPr id="13" name="Image 2"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12600" y="2460665"/>
            <a:ext cx="190500" cy="190500"/>
          </a:xfrm>
          <a:prstGeom prst="rect">
            <a:avLst/>
          </a:prstGeom>
        </p:spPr>
      </p:pic>
      <p:sp>
        <p:nvSpPr>
          <p:cNvPr id="14" name="Text 9"/>
          <p:cNvSpPr/>
          <p:nvPr/>
        </p:nvSpPr>
        <p:spPr>
          <a:xfrm>
            <a:off x="4809053" y="2952750"/>
            <a:ext cx="2685097" cy="272891"/>
          </a:xfrm>
          <a:prstGeom prst="rect">
            <a:avLst/>
          </a:prstGeom>
          <a:noFill/>
          <a:ln/>
        </p:spPr>
        <p:txBody>
          <a:bodyPr wrap="none" lIns="0" tIns="0" rIns="0" bIns="0" rtlCol="0" anchor="t"/>
          <a:lstStyle/>
          <a:p>
            <a:pPr marL="0" indent="0" algn="l">
              <a:lnSpc>
                <a:spcPts val="2100"/>
              </a:lnSpc>
              <a:buNone/>
            </a:pPr>
            <a:endParaRPr lang="en-US" sz="2400" dirty="0"/>
          </a:p>
        </p:txBody>
      </p:sp>
      <p:sp>
        <p:nvSpPr>
          <p:cNvPr id="15" name="Text 10"/>
          <p:cNvSpPr/>
          <p:nvPr/>
        </p:nvSpPr>
        <p:spPr>
          <a:xfrm>
            <a:off x="4809053" y="3292316"/>
            <a:ext cx="3597712" cy="1166533"/>
          </a:xfrm>
          <a:prstGeom prst="rect">
            <a:avLst/>
          </a:prstGeom>
          <a:noFill/>
          <a:ln/>
        </p:spPr>
        <p:txBody>
          <a:bodyPr wrap="square" lIns="0" tIns="0" rIns="0" bIns="0" rtlCol="0" anchor="t"/>
          <a:lstStyle/>
          <a:p>
            <a:pPr marL="285750" indent="-285750" algn="l">
              <a:lnSpc>
                <a:spcPts val="1700"/>
              </a:lnSpc>
              <a:buFont typeface="Arial" panose="020B0604020202020204" pitchFamily="34" charset="0"/>
              <a:buChar char="•"/>
            </a:pPr>
            <a:endParaRPr lang="en-US" sz="1600" dirty="0"/>
          </a:p>
        </p:txBody>
      </p:sp>
      <p:sp>
        <p:nvSpPr>
          <p:cNvPr id="22" name="Text 16"/>
          <p:cNvSpPr/>
          <p:nvPr/>
        </p:nvSpPr>
        <p:spPr>
          <a:xfrm>
            <a:off x="811112" y="6624042"/>
            <a:ext cx="7221379" cy="436602"/>
          </a:xfrm>
          <a:prstGeom prst="rect">
            <a:avLst/>
          </a:prstGeom>
          <a:noFill/>
          <a:ln/>
        </p:spPr>
        <p:txBody>
          <a:bodyPr wrap="none" lIns="0" tIns="0" rIns="0" bIns="0" rtlCol="0" anchor="t"/>
          <a:lstStyle/>
          <a:p>
            <a:pPr marL="0" indent="0" algn="l">
              <a:lnSpc>
                <a:spcPts val="3400"/>
              </a:lnSpc>
              <a:buNone/>
            </a:pPr>
            <a:r>
              <a:rPr lang="en-US" sz="3200" b="1" dirty="0">
                <a:solidFill>
                  <a:srgbClr val="F95F88"/>
                </a:solidFill>
                <a:latin typeface="Arial" panose="020B0604020202020204" pitchFamily="34" charset="0"/>
                <a:ea typeface="Petrona Bold" pitchFamily="34" charset="-122"/>
                <a:cs typeface="Arial" panose="020B0604020202020204" pitchFamily="34" charset="0"/>
              </a:rPr>
              <a:t>"</a:t>
            </a:r>
            <a:r>
              <a:rPr lang="en-US" sz="3200" b="1">
                <a:solidFill>
                  <a:srgbClr val="F95F88"/>
                </a:solidFill>
                <a:latin typeface="Arial" panose="020B0604020202020204" pitchFamily="34" charset="0"/>
                <a:ea typeface="Petrona Bold" pitchFamily="34" charset="-122"/>
                <a:cs typeface="Arial" panose="020B0604020202020204" pitchFamily="34" charset="0"/>
              </a:rPr>
              <a:t>Cảm ơn thầy </a:t>
            </a:r>
            <a:r>
              <a:rPr lang="en-US" sz="3200" b="1" dirty="0">
                <a:solidFill>
                  <a:srgbClr val="F95F88"/>
                </a:solidFill>
                <a:latin typeface="Arial" panose="020B0604020202020204" pitchFamily="34" charset="0"/>
                <a:ea typeface="Petrona Bold" pitchFamily="34" charset="-122"/>
                <a:cs typeface="Arial" panose="020B0604020202020204" pitchFamily="34" charset="0"/>
              </a:rPr>
              <a:t>và các bạn đã lắng nghe!"</a:t>
            </a:r>
            <a:endParaRPr lang="en-US" sz="3200" dirty="0">
              <a:latin typeface="Arial" panose="020B0604020202020204" pitchFamily="34" charset="0"/>
              <a:cs typeface="Arial" panose="020B0604020202020204" pitchFamily="34" charset="0"/>
            </a:endParaRPr>
          </a:p>
        </p:txBody>
      </p:sp>
      <p:sp>
        <p:nvSpPr>
          <p:cNvPr id="23" name="Text 17"/>
          <p:cNvSpPr/>
          <p:nvPr/>
        </p:nvSpPr>
        <p:spPr>
          <a:xfrm>
            <a:off x="811112" y="7227331"/>
            <a:ext cx="7794546" cy="215741"/>
          </a:xfrm>
          <a:prstGeom prst="rect">
            <a:avLst/>
          </a:prstGeom>
          <a:noFill/>
          <a:ln/>
        </p:spPr>
        <p:txBody>
          <a:bodyPr wrap="none" lIns="0" tIns="0" rIns="0" bIns="0" rtlCol="0" anchor="t"/>
          <a:lstStyle/>
          <a:p>
            <a:pPr marL="0" indent="0" algn="l">
              <a:lnSpc>
                <a:spcPts val="1700"/>
              </a:lnSpc>
              <a:buNone/>
            </a:pPr>
            <a:r>
              <a:rPr lang="en-US" sz="1600" dirty="0">
                <a:solidFill>
                  <a:srgbClr val="272525"/>
                </a:solidFill>
                <a:latin typeface="Inter" pitchFamily="34" charset="0"/>
                <a:ea typeface="Inter" pitchFamily="34" charset="-122"/>
                <a:cs typeface="Inter" pitchFamily="34" charset="-120"/>
              </a:rPr>
              <a:t>Mọi câu hỏi và đóng góp </a:t>
            </a:r>
            <a:r>
              <a:rPr lang="en-US" sz="1600">
                <a:solidFill>
                  <a:srgbClr val="272525"/>
                </a:solidFill>
                <a:latin typeface="Inter" pitchFamily="34" charset="0"/>
                <a:ea typeface="Inter" pitchFamily="34" charset="-122"/>
                <a:cs typeface="Inter" pitchFamily="34" charset="-120"/>
              </a:rPr>
              <a:t>xin mời mọi người </a:t>
            </a:r>
            <a:r>
              <a:rPr lang="en-US" sz="1600" dirty="0">
                <a:solidFill>
                  <a:srgbClr val="272525"/>
                </a:solidFill>
                <a:latin typeface="Inter" pitchFamily="34" charset="0"/>
                <a:ea typeface="Inter" pitchFamily="34" charset="-122"/>
                <a:cs typeface="Inter" pitchFamily="34" charset="-120"/>
              </a:rPr>
              <a:t>đặt ra ngay bây giờ.</a:t>
            </a:r>
            <a:endParaRPr lang="en-US" sz="1600" dirty="0"/>
          </a:p>
        </p:txBody>
      </p:sp>
      <p:sp>
        <p:nvSpPr>
          <p:cNvPr id="24" name="Shape 18"/>
          <p:cNvSpPr/>
          <p:nvPr/>
        </p:nvSpPr>
        <p:spPr>
          <a:xfrm flipH="1">
            <a:off x="578524" y="6711913"/>
            <a:ext cx="45719" cy="1110734"/>
          </a:xfrm>
          <a:prstGeom prst="rect">
            <a:avLst/>
          </a:prstGeom>
          <a:solidFill>
            <a:srgbClr val="6237C8"/>
          </a:solidFill>
          <a:ln/>
        </p:spPr>
        <p:txBody>
          <a:bodyPr/>
          <a:lstStyle/>
          <a:p>
            <a:endParaRPr lang="vi-V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ủ đề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191</TotalTime>
  <Words>1323</Words>
  <Application>Microsoft Office PowerPoint</Application>
  <PresentationFormat>Tùy chỉnh</PresentationFormat>
  <Paragraphs>160</Paragraphs>
  <Slides>9</Slides>
  <Notes>9</Notes>
  <HiddenSlides>0</HiddenSlides>
  <MMClips>0</MMClips>
  <ScaleCrop>false</ScaleCrop>
  <HeadingPairs>
    <vt:vector size="6" baseType="variant">
      <vt:variant>
        <vt:lpstr>Phông được Dùng</vt:lpstr>
      </vt:variant>
      <vt:variant>
        <vt:i4>5</vt:i4>
      </vt:variant>
      <vt:variant>
        <vt:lpstr>Chủ đề</vt:lpstr>
      </vt:variant>
      <vt:variant>
        <vt:i4>1</vt:i4>
      </vt:variant>
      <vt:variant>
        <vt:lpstr>Tiêu đề Bản chiếu</vt:lpstr>
      </vt:variant>
      <vt:variant>
        <vt:i4>9</vt:i4>
      </vt:variant>
    </vt:vector>
  </HeadingPairs>
  <TitlesOfParts>
    <vt:vector size="15" baseType="lpstr">
      <vt:lpstr>Inter</vt:lpstr>
      <vt:lpstr>Petrona Light</vt:lpstr>
      <vt:lpstr>Arial</vt:lpstr>
      <vt:lpstr>Petrona Bold</vt:lpstr>
      <vt:lpstr>Wingdings</vt:lpstr>
      <vt:lpstr>Office Theme</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Molistar Lê Toàn</cp:lastModifiedBy>
  <cp:revision>3</cp:revision>
  <dcterms:created xsi:type="dcterms:W3CDTF">2026-01-28T06:40:49Z</dcterms:created>
  <dcterms:modified xsi:type="dcterms:W3CDTF">2026-02-02T17:25:45Z</dcterms:modified>
</cp:coreProperties>
</file>